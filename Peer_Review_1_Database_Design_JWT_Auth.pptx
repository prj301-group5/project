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914400"/>
            <a:ext cx="10698480" cy="5029200"/>
          </a:xfrm>
          <a:prstGeom prst="roundRect">
            <a:avLst/>
          </a:prstGeom>
          <a:solidFill>
            <a:srgbClr val="141E37"/>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88720"/>
            <a:ext cx="9966960" cy="4389120"/>
          </a:xfrm>
          <a:prstGeom prst="rect">
            <a:avLst/>
          </a:prstGeom>
          <a:noFill/>
        </p:spPr>
        <p:txBody>
          <a:bodyPr wrap="square">
            <a:spAutoFit/>
          </a:bodyPr>
          <a:lstStyle/>
          <a:p>
            <a:pPr>
              <a:spcAft>
                <a:spcPts val="1400"/>
              </a:spcAft>
              <a:defRPr sz="1300" b="1">
                <a:solidFill>
                  <a:srgbClr val="06B6D4"/>
                </a:solidFill>
              </a:defRPr>
            </a:pPr>
            <a:r>
              <a:t>PEER-REVIEW 1 (TUẦN 3) • PRJ301 &amp; RBL TRACK 5</a:t>
            </a:r>
          </a:p>
          <a:p>
            <a:pPr>
              <a:spcAft>
                <a:spcPts val="1800"/>
              </a:spcAft>
              <a:defRPr sz="2800" b="1">
                <a:solidFill>
                  <a:srgbClr val="F8FAFC"/>
                </a:solidFill>
              </a:defRPr>
            </a:pPr>
            <a:r>
              <a:t>ĐÁNH GIÁ DATABASE DESIGN &amp;</a:t>
            </a:r>
            <a:br/>
            <a:r>
              <a:t>CƠ CHẾ JWT AUTHENTICATION (4.1.3)</a:t>
            </a:r>
          </a:p>
          <a:p>
            <a:pPr>
              <a:spcAft>
                <a:spcPts val="2800"/>
              </a:spcAft>
              <a:defRPr sz="1500">
                <a:solidFill>
                  <a:srgbClr val="10B981"/>
                </a:solidFill>
              </a:defRPr>
            </a:pPr>
            <a:r>
              <a:t>Làm chủ JDBC: Nền móng Kỹ thuật Sống còn để AI Truy xuất &amp; Cấu trúc hóa Dữ liệu Học tập</a:t>
            </a:r>
          </a:p>
          <a:p>
            <a:pPr>
              <a:defRPr sz="1200">
                <a:solidFill>
                  <a:srgbClr val="94A3B8"/>
                </a:solidFill>
              </a:defRPr>
            </a:pPr>
            <a:r>
              <a:t>Nhóm 5: Git Analytics Teamwork Assessor (Định lượng Sự Công bằng &amp; Chống Free-riding)</a:t>
            </a:r>
            <a:br/>
            <a:r>
              <a:t>Giảng viên hướng dẫn: Bộ môn SE/PRJ301 • Môi trường: Java Web MVC2, SQL Server, Docker &amp; Redis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BỐI CẢNH ĐỀ TÀI</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1. Bối cảnh &amp; Sứ mệnh Nhóm 5: Git Analytics Teamwork Assessor</a:t>
            </a:r>
          </a:p>
          <a:p>
            <a:pPr>
              <a:defRPr sz="1200">
                <a:solidFill>
                  <a:srgbClr val="94A3B8"/>
                </a:solidFill>
              </a:defRPr>
            </a:pPr>
            <a:r>
              <a:t>Giải quyết triệt để tình trạng ỷ lại (Free-riding) trong làm việc nhóm qua phân tích lịch sử Git tự động</a:t>
            </a:r>
          </a:p>
        </p:txBody>
      </p:sp>
      <p:sp>
        <p:nvSpPr>
          <p:cNvPr id="5" name="Rounded Rectangle 4"/>
          <p:cNvSpPr/>
          <p:nvPr/>
        </p:nvSpPr>
        <p:spPr>
          <a:xfrm>
            <a:off x="731520" y="1737360"/>
            <a:ext cx="3383280" cy="4389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20"/>
            <a:ext cx="3108960" cy="4114800"/>
          </a:xfrm>
          <a:prstGeom prst="rect">
            <a:avLst/>
          </a:prstGeom>
          <a:noFill/>
        </p:spPr>
        <p:txBody>
          <a:bodyPr wrap="square">
            <a:spAutoFit/>
          </a:bodyPr>
          <a:lstStyle/>
          <a:p>
            <a:pPr>
              <a:spcAft>
                <a:spcPts val="1000"/>
              </a:spcAft>
              <a:defRPr sz="1400" b="1">
                <a:solidFill>
                  <a:srgbClr val="EF4444"/>
                </a:solidFill>
              </a:defRPr>
            </a:pPr>
            <a:r>
              <a:t>⚠️ VẤN ĐỀ THỰC TẾ</a:t>
            </a:r>
          </a:p>
          <a:p>
            <a:pPr>
              <a:spcAft>
                <a:spcPts val="800"/>
              </a:spcAft>
              <a:defRPr sz="1100">
                <a:solidFill>
                  <a:srgbClr val="F8FAFC"/>
                </a:solidFill>
              </a:defRPr>
            </a:pPr>
            <a:r>
              <a:t>• Hiện tượng Free-rider: Thành viên không viết code nhưng vẫn đứng tên nhận điểm chung.</a:t>
            </a:r>
          </a:p>
          <a:p>
            <a:pPr>
              <a:spcAft>
                <a:spcPts val="800"/>
              </a:spcAft>
              <a:defRPr sz="1100">
                <a:solidFill>
                  <a:srgbClr val="F8FAFC"/>
                </a:solidFill>
              </a:defRPr>
            </a:pPr>
            <a:r>
              <a:t>• Commit gian lận &amp; Panic Commits: Dồn commit vào 6-12h trước deadline để đối phó.</a:t>
            </a:r>
          </a:p>
          <a:p>
            <a:pPr>
              <a:spcAft>
                <a:spcPts val="800"/>
              </a:spcAft>
              <a:defRPr sz="1100">
                <a:solidFill>
                  <a:srgbClr val="F8FAFC"/>
                </a:solidFill>
              </a:defRPr>
            </a:pPr>
            <a:r>
              <a:t>• Spam khoảng trắng / thư mục vendor: Đổi tên file, commit node_modules, .jar để thổi phồng LoC.</a:t>
            </a:r>
          </a:p>
          <a:p>
            <a:pPr>
              <a:spcAft>
                <a:spcPts val="800"/>
              </a:spcAft>
              <a:defRPr sz="1100">
                <a:solidFill>
                  <a:srgbClr val="F8FAFC"/>
                </a:solidFill>
              </a:defRPr>
            </a:pPr>
            <a:r>
              <a:t>• Quá tải của Giảng viên: Không thể duyệt hàng trăm commit log thủ công của từng nhóm.</a:t>
            </a:r>
          </a:p>
        </p:txBody>
      </p:sp>
      <p:sp>
        <p:nvSpPr>
          <p:cNvPr id="7" name="Rounded Rectangle 6"/>
          <p:cNvSpPr/>
          <p:nvPr/>
        </p:nvSpPr>
        <p:spPr>
          <a:xfrm>
            <a:off x="4389120" y="1737360"/>
            <a:ext cx="338328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74520"/>
            <a:ext cx="3108960" cy="4114800"/>
          </a:xfrm>
          <a:prstGeom prst="rect">
            <a:avLst/>
          </a:prstGeom>
          <a:noFill/>
        </p:spPr>
        <p:txBody>
          <a:bodyPr wrap="square">
            <a:spAutoFit/>
          </a:bodyPr>
          <a:lstStyle/>
          <a:p>
            <a:pPr>
              <a:spcAft>
                <a:spcPts val="1000"/>
              </a:spcAft>
              <a:defRPr sz="1400" b="1">
                <a:solidFill>
                  <a:srgbClr val="06B6D4"/>
                </a:solidFill>
              </a:defRPr>
            </a:pPr>
            <a:r>
              <a:t>💡 GIẢI PHÁP NHÓM 5</a:t>
            </a:r>
          </a:p>
          <a:p>
            <a:pPr>
              <a:spcAft>
                <a:spcPts val="800"/>
              </a:spcAft>
              <a:defRPr sz="1100">
                <a:solidFill>
                  <a:srgbClr val="F8FAFC"/>
                </a:solidFill>
              </a:defRPr>
            </a:pPr>
            <a:r>
              <a:t>• Git Analytics Engine: Tự động bóc tách commit history từ ZIP/repo.</a:t>
            </a:r>
          </a:p>
          <a:p>
            <a:pPr>
              <a:spcAft>
                <a:spcPts val="800"/>
              </a:spcAft>
              <a:defRPr sz="1100">
                <a:solidFill>
                  <a:srgbClr val="F8FAFC"/>
                </a:solidFill>
              </a:defRPr>
            </a:pPr>
            <a:r>
              <a:t>• Bộ chỉ số đa chiều: Commits, Net Churn, Time Entropy, Conventional Commits, Module Ownership.</a:t>
            </a:r>
          </a:p>
          <a:p>
            <a:pPr>
              <a:spcAft>
                <a:spcPts val="800"/>
              </a:spcAft>
              <a:defRPr sz="1100">
                <a:solidFill>
                  <a:srgbClr val="F8FAFC"/>
                </a:solidFill>
              </a:defRPr>
            </a:pPr>
            <a:r>
              <a:t>• Công thức điểm ICS %: Chuẩn hóa 100% tỷ lệ đóng góp thực tế trong nhóm.</a:t>
            </a:r>
          </a:p>
          <a:p>
            <a:pPr>
              <a:spcAft>
                <a:spcPts val="800"/>
              </a:spcAft>
              <a:defRPr sz="1100">
                <a:solidFill>
                  <a:srgbClr val="F8FAFC"/>
                </a:solidFill>
              </a:defRPr>
            </a:pPr>
            <a:r>
              <a:t>• Phát hiện Anomaly: Gắn cờ tự động GHOST_COMMITTER và 11TH_HOUR_RUSHER.</a:t>
            </a:r>
          </a:p>
        </p:txBody>
      </p:sp>
      <p:sp>
        <p:nvSpPr>
          <p:cNvPr id="9" name="Rounded Rectangle 8"/>
          <p:cNvSpPr/>
          <p:nvPr/>
        </p:nvSpPr>
        <p:spPr>
          <a:xfrm>
            <a:off x="8046720" y="1737360"/>
            <a:ext cx="338328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874520"/>
            <a:ext cx="3108960" cy="4114800"/>
          </a:xfrm>
          <a:prstGeom prst="rect">
            <a:avLst/>
          </a:prstGeom>
          <a:noFill/>
        </p:spPr>
        <p:txBody>
          <a:bodyPr wrap="square">
            <a:spAutoFit/>
          </a:bodyPr>
          <a:lstStyle/>
          <a:p>
            <a:pPr>
              <a:spcAft>
                <a:spcPts val="1000"/>
              </a:spcAft>
              <a:defRPr sz="1400" b="1">
                <a:solidFill>
                  <a:srgbClr val="10B981"/>
                </a:solidFill>
              </a:defRPr>
            </a:pPr>
            <a:r>
              <a:t>🎯 MỤC TIÊU PEER-REVIEW 1</a:t>
            </a:r>
          </a:p>
          <a:p>
            <a:pPr>
              <a:spcAft>
                <a:spcPts val="800"/>
              </a:spcAft>
              <a:defRPr sz="1100">
                <a:solidFill>
                  <a:srgbClr val="F8FAFC"/>
                </a:solidFill>
              </a:defRPr>
            </a:pPr>
            <a:r>
              <a:t>• Database Design chuẩn 3NF: 19 bảng bao trùm Users, Teams G1-G7, Submissions, GitMetrics, École 42.</a:t>
            </a:r>
          </a:p>
          <a:p>
            <a:pPr>
              <a:spcAft>
                <a:spcPts val="800"/>
              </a:spcAft>
              <a:defRPr sz="1100">
                <a:solidFill>
                  <a:srgbClr val="F8FAFC"/>
                </a:solidFill>
              </a:defRPr>
            </a:pPr>
            <a:r>
              <a:t>• Xác thực JWT Authentication (4.1.3): Stateless token, ký HMAC-SHA256, phân quyền RBAC.</a:t>
            </a:r>
          </a:p>
          <a:p>
            <a:pPr>
              <a:spcAft>
                <a:spcPts val="800"/>
              </a:spcAft>
              <a:defRPr sz="1100">
                <a:solidFill>
                  <a:srgbClr val="F8FAFC"/>
                </a:solidFill>
              </a:defRPr>
            </a:pPr>
            <a:r>
              <a:t>• Làm chủ tầng JDBC: Nền móng sống còn để nạp và cấu trúc dữ liệu cho AI.</a:t>
            </a:r>
          </a:p>
          <a:p>
            <a:pPr>
              <a:spcAft>
                <a:spcPts val="800"/>
              </a:spcAft>
              <a:defRPr sz="1100">
                <a:solidFill>
                  <a:srgbClr val="F8FAFC"/>
                </a:solidFill>
              </a:defRPr>
            </a:pPr>
            <a:r>
              <a:t>• Kiểm thử tự động: 85/85 test cases pass 100% trên cả SQL Server và SQLite.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LUẬN ĐIỂM KỸ THUẬT CỐT LÕI</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2. Tầm quan trọng: 'Làm chủ JDBC là Nền móng Kỹ thuật Sống còn cho AI'</a:t>
            </a:r>
          </a:p>
          <a:p>
            <a:pPr>
              <a:defRPr sz="1200">
                <a:solidFill>
                  <a:srgbClr val="94A3B8"/>
                </a:solidFill>
              </a:defRPr>
            </a:pPr>
            <a:r>
              <a:t>Tại sao mô hình AI (Gemini/OpenAI) phụ thuộc hoàn toàn vào chất lượng và tốc độ của Tầng JDBC DAO?</a:t>
            </a:r>
          </a:p>
        </p:txBody>
      </p:sp>
      <p:sp>
        <p:nvSpPr>
          <p:cNvPr id="5" name="Rounded Rectangle 4"/>
          <p:cNvSpPr/>
          <p:nvPr/>
        </p:nvSpPr>
        <p:spPr>
          <a:xfrm>
            <a:off x="731520" y="1645920"/>
            <a:ext cx="10698480" cy="1005840"/>
          </a:xfrm>
          <a:prstGeom prst="roundRect">
            <a:avLst/>
          </a:prstGeom>
          <a:solidFill>
            <a:srgbClr val="191E3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10332720" cy="914400"/>
          </a:xfrm>
          <a:prstGeom prst="rect">
            <a:avLst/>
          </a:prstGeom>
          <a:noFill/>
        </p:spPr>
        <p:txBody>
          <a:bodyPr wrap="square">
            <a:spAutoFit/>
          </a:bodyPr>
          <a:lstStyle/>
          <a:p>
            <a:pPr>
              <a:defRPr sz="1300" b="1">
                <a:solidFill>
                  <a:srgbClr val="06B6D4"/>
                </a:solidFill>
              </a:defRPr>
            </a:pPr>
            <a:r>
              <a:t>“Việc làm chủ JDBC là nền móng kỹ thuật sống còn để AI có thể truy xuất và cấu trúc hóa dữ liệu học tập hiệu quả từ hệ thống cơ sở dữ liệu.”</a:t>
            </a:r>
          </a:p>
        </p:txBody>
      </p:sp>
      <p:sp>
        <p:nvSpPr>
          <p:cNvPr id="7" name="Rounded Rectangle 6"/>
          <p:cNvSpPr/>
          <p:nvPr/>
        </p:nvSpPr>
        <p:spPr>
          <a:xfrm>
            <a:off x="731520" y="2834640"/>
            <a:ext cx="3383280" cy="35661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971800"/>
            <a:ext cx="3108960" cy="3291840"/>
          </a:xfrm>
          <a:prstGeom prst="rect">
            <a:avLst/>
          </a:prstGeom>
          <a:noFill/>
        </p:spPr>
        <p:txBody>
          <a:bodyPr wrap="square">
            <a:spAutoFit/>
          </a:bodyPr>
          <a:lstStyle/>
          <a:p>
            <a:pPr>
              <a:spcAft>
                <a:spcPts val="800"/>
              </a:spcAft>
              <a:defRPr sz="1200" b="1">
                <a:solidFill>
                  <a:srgbClr val="6366F1"/>
                </a:solidFill>
              </a:defRPr>
            </a:pPr>
            <a:r>
              <a:t>1. Cung Cấp 'Structured Context' Chuẩn Xác</a:t>
            </a:r>
          </a:p>
          <a:p>
            <a:pPr>
              <a:spcAft>
                <a:spcPts val="600"/>
              </a:spcAft>
              <a:defRPr sz="1050">
                <a:solidFill>
                  <a:srgbClr val="F8FAFC"/>
                </a:solidFill>
              </a:defRPr>
            </a:pPr>
            <a:r>
              <a:t>• AI (LLMs) bị giới hạn bởi Token Window và nhạy cảm với dữ liệu rác.</a:t>
            </a:r>
          </a:p>
          <a:p>
            <a:pPr>
              <a:spcAft>
                <a:spcPts val="600"/>
              </a:spcAft>
              <a:defRPr sz="1050">
                <a:solidFill>
                  <a:srgbClr val="F8FAFC"/>
                </a:solidFill>
              </a:defRPr>
            </a:pPr>
            <a:r>
              <a:t>• JDBC DAO chuyển đổi dữ liệu SQL thô (hàng nghìn dòng git commit) thành các DTOs/JSON cô đọng.</a:t>
            </a:r>
          </a:p>
          <a:p>
            <a:pPr>
              <a:spcAft>
                <a:spcPts val="600"/>
              </a:spcAft>
              <a:defRPr sz="1050">
                <a:solidFill>
                  <a:srgbClr val="F8FAFC"/>
                </a:solidFill>
              </a:defRPr>
            </a:pPr>
            <a:r>
              <a:t>• Nếu JDBC truy vấn thiếu sót, AI sẽ ảo giác (hallucination) và đánh giá sai năng lực sinh viên.</a:t>
            </a:r>
          </a:p>
        </p:txBody>
      </p:sp>
      <p:sp>
        <p:nvSpPr>
          <p:cNvPr id="9" name="Rounded Rectangle 8"/>
          <p:cNvSpPr/>
          <p:nvPr/>
        </p:nvSpPr>
        <p:spPr>
          <a:xfrm>
            <a:off x="4389120" y="2834640"/>
            <a:ext cx="3383280" cy="35661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2971800"/>
            <a:ext cx="3108960" cy="3291840"/>
          </a:xfrm>
          <a:prstGeom prst="rect">
            <a:avLst/>
          </a:prstGeom>
          <a:noFill/>
        </p:spPr>
        <p:txBody>
          <a:bodyPr wrap="square">
            <a:spAutoFit/>
          </a:bodyPr>
          <a:lstStyle/>
          <a:p>
            <a:pPr>
              <a:spcAft>
                <a:spcPts val="800"/>
              </a:spcAft>
              <a:defRPr sz="1200" b="1">
                <a:solidFill>
                  <a:srgbClr val="10B981"/>
                </a:solidFill>
              </a:defRPr>
            </a:pPr>
            <a:r>
              <a:t>2. Tối Ưu Độ Trễ &amp; Hiệu Năng Thời Gian Thực</a:t>
            </a:r>
          </a:p>
          <a:p>
            <a:pPr>
              <a:spcAft>
                <a:spcPts val="600"/>
              </a:spcAft>
              <a:defRPr sz="1050">
                <a:solidFill>
                  <a:srgbClr val="F8FAFC"/>
                </a:solidFill>
              </a:defRPr>
            </a:pPr>
            <a:r>
              <a:t>• PreparedStatement: Tối ưu query execution plan trên SQL Server.</a:t>
            </a:r>
          </a:p>
          <a:p>
            <a:pPr>
              <a:spcAft>
                <a:spcPts val="600"/>
              </a:spcAft>
              <a:defRPr sz="1050">
                <a:solidFill>
                  <a:srgbClr val="F8FAFC"/>
                </a:solidFill>
              </a:defRPr>
            </a:pPr>
            <a:r>
              <a:t>• Connection Pooling: Tái sử dụng socket connection, giảm 90% latency so với mở kết nối mới.</a:t>
            </a:r>
          </a:p>
          <a:p>
            <a:pPr>
              <a:spcAft>
                <a:spcPts val="600"/>
              </a:spcAft>
              <a:defRPr sz="1050">
                <a:solidFill>
                  <a:srgbClr val="F8FAFC"/>
                </a:solidFill>
              </a:defRPr>
            </a:pPr>
            <a:r>
              <a:t>• Chỉ số nạp cho AI trong &lt; 50ms, đảm bảo AI Grading trả kết quả nhanh chóng cho sinh viên.</a:t>
            </a:r>
          </a:p>
        </p:txBody>
      </p:sp>
      <p:sp>
        <p:nvSpPr>
          <p:cNvPr id="11" name="Rounded Rectangle 10"/>
          <p:cNvSpPr/>
          <p:nvPr/>
        </p:nvSpPr>
        <p:spPr>
          <a:xfrm>
            <a:off x="8046720" y="2834640"/>
            <a:ext cx="3383280" cy="35661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2971800"/>
            <a:ext cx="3108960" cy="3291840"/>
          </a:xfrm>
          <a:prstGeom prst="rect">
            <a:avLst/>
          </a:prstGeom>
          <a:noFill/>
        </p:spPr>
        <p:txBody>
          <a:bodyPr wrap="square">
            <a:spAutoFit/>
          </a:bodyPr>
          <a:lstStyle/>
          <a:p>
            <a:pPr>
              <a:spcAft>
                <a:spcPts val="800"/>
              </a:spcAft>
              <a:defRPr sz="1200" b="1">
                <a:solidFill>
                  <a:srgbClr val="F59E0B"/>
                </a:solidFill>
              </a:defRPr>
            </a:pPr>
            <a:r>
              <a:t>3. Bảo Đảm Toàn Vẹn ACID &amp; Chống SQLi</a:t>
            </a:r>
          </a:p>
          <a:p>
            <a:pPr>
              <a:spcAft>
                <a:spcPts val="600"/>
              </a:spcAft>
              <a:defRPr sz="1050">
                <a:solidFill>
                  <a:srgbClr val="F8FAFC"/>
                </a:solidFill>
              </a:defRPr>
            </a:pPr>
            <a:r>
              <a:t>• Mã nguồn sinh viên có thể chứa payload tấn công hoặc SQL Injection ngầm.</a:t>
            </a:r>
          </a:p>
          <a:p>
            <a:pPr>
              <a:spcAft>
                <a:spcPts val="600"/>
              </a:spcAft>
              <a:defRPr sz="1050">
                <a:solidFill>
                  <a:srgbClr val="F8FAFC"/>
                </a:solidFill>
              </a:defRPr>
            </a:pPr>
            <a:r>
              <a:t>• Tầng JDBC với Parameterized Binding ngăn chặn triệt để SQL Injection ở mức driver.</a:t>
            </a:r>
          </a:p>
          <a:p>
            <a:pPr>
              <a:spcAft>
                <a:spcPts val="600"/>
              </a:spcAft>
              <a:defRPr sz="1050">
                <a:solidFill>
                  <a:srgbClr val="F8FAFC"/>
                </a:solidFill>
              </a:defRPr>
            </a:pPr>
            <a:r>
              <a:t>• Giao dịch (Transactions Atomicity): Lưu đồng thời GitMetrics, Submissions, và ví điểm École 42 an toàn.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DATABASE ARCHITECTURE</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3. Thiết kế Cơ sở Dữ liệu Toàn diện (ERD 19 Bảng Chuẩn 3NF)</a:t>
            </a:r>
          </a:p>
          <a:p>
            <a:pPr>
              <a:defRPr sz="1200">
                <a:solidFill>
                  <a:srgbClr val="94A3B8"/>
                </a:solidFill>
              </a:defRPr>
            </a:pPr>
            <a:r>
              <a:t>Mô hình hóa hoàn chỉnh cho cả Microsoft SQL Server 2019 và SQLite với quan hệ ràng buộc chặt chẽ</a:t>
            </a:r>
          </a:p>
        </p:txBody>
      </p:sp>
      <p:sp>
        <p:nvSpPr>
          <p:cNvPr id="5" name="Rounded Rectangle 4"/>
          <p:cNvSpPr/>
          <p:nvPr/>
        </p:nvSpPr>
        <p:spPr>
          <a:xfrm>
            <a:off x="731520" y="1737360"/>
            <a:ext cx="251460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847088"/>
            <a:ext cx="2295144" cy="4261104"/>
          </a:xfrm>
          <a:prstGeom prst="rect">
            <a:avLst/>
          </a:prstGeom>
          <a:noFill/>
        </p:spPr>
        <p:txBody>
          <a:bodyPr wrap="square">
            <a:spAutoFit/>
          </a:bodyPr>
          <a:lstStyle/>
          <a:p>
            <a:pPr>
              <a:spcAft>
                <a:spcPts val="800"/>
              </a:spcAft>
              <a:defRPr sz="1100" b="1">
                <a:solidFill>
                  <a:srgbClr val="6366F1"/>
                </a:solidFill>
              </a:defRPr>
            </a:pPr>
            <a:r>
              <a:t>1. IDENTITY &amp; ACADEMIC</a:t>
            </a:r>
          </a:p>
          <a:p>
            <a:pPr>
              <a:spcAft>
                <a:spcPts val="600"/>
              </a:spcAft>
              <a:defRPr sz="950">
                <a:solidFill>
                  <a:srgbClr val="F8FAFC"/>
                </a:solidFill>
              </a:defRPr>
            </a:pPr>
            <a:r>
              <a:t>• Users: user_id, full_name, email, password_hash, role</a:t>
            </a:r>
          </a:p>
          <a:p>
            <a:pPr>
              <a:spcAft>
                <a:spcPts val="600"/>
              </a:spcAft>
              <a:defRPr sz="950">
                <a:solidFill>
                  <a:srgbClr val="F8FAFC"/>
                </a:solidFill>
              </a:defRPr>
            </a:pPr>
            <a:r>
              <a:t>• Teachers: employee_code, department</a:t>
            </a:r>
          </a:p>
          <a:p>
            <a:pPr>
              <a:spcAft>
                <a:spcPts val="600"/>
              </a:spcAft>
              <a:defRPr sz="950">
                <a:solidFill>
                  <a:srgbClr val="F8FAFC"/>
                </a:solidFill>
              </a:defRPr>
            </a:pPr>
            <a:r>
              <a:t>• Students: student_code, class_name</a:t>
            </a:r>
          </a:p>
          <a:p>
            <a:pPr>
              <a:spcAft>
                <a:spcPts val="600"/>
              </a:spcAft>
              <a:defRPr sz="950">
                <a:solidFill>
                  <a:srgbClr val="F8FAFC"/>
                </a:solidFill>
              </a:defRPr>
            </a:pPr>
            <a:r>
              <a:t>• Subjects: subject_code, semester</a:t>
            </a:r>
          </a:p>
          <a:p>
            <a:pPr>
              <a:spcAft>
                <a:spcPts val="600"/>
              </a:spcAft>
              <a:defRPr sz="950">
                <a:solidFill>
                  <a:srgbClr val="F8FAFC"/>
                </a:solidFill>
              </a:defRPr>
            </a:pPr>
            <a:r>
              <a:t>• StudentSubjects: Đăng ký môn</a:t>
            </a:r>
          </a:p>
          <a:p>
            <a:pPr>
              <a:spcAft>
                <a:spcPts val="600"/>
              </a:spcAft>
              <a:defRPr sz="950">
                <a:solidFill>
                  <a:srgbClr val="F8FAFC"/>
                </a:solidFill>
              </a:defRPr>
            </a:pPr>
            <a:r>
              <a:t>• Classes: Quản lý lớp học</a:t>
            </a:r>
          </a:p>
        </p:txBody>
      </p:sp>
      <p:sp>
        <p:nvSpPr>
          <p:cNvPr id="7" name="Rounded Rectangle 6"/>
          <p:cNvSpPr/>
          <p:nvPr/>
        </p:nvSpPr>
        <p:spPr>
          <a:xfrm>
            <a:off x="3429000" y="1737360"/>
            <a:ext cx="2514600" cy="448056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38728" y="1847088"/>
            <a:ext cx="2295144" cy="4261104"/>
          </a:xfrm>
          <a:prstGeom prst="rect">
            <a:avLst/>
          </a:prstGeom>
          <a:noFill/>
        </p:spPr>
        <p:txBody>
          <a:bodyPr wrap="square">
            <a:spAutoFit/>
          </a:bodyPr>
          <a:lstStyle/>
          <a:p>
            <a:pPr>
              <a:spcAft>
                <a:spcPts val="800"/>
              </a:spcAft>
              <a:defRPr sz="1100" b="1">
                <a:solidFill>
                  <a:srgbClr val="06B6D4"/>
                </a:solidFill>
              </a:defRPr>
            </a:pPr>
            <a:r>
              <a:t>2. TEAMS &amp; ARTIFACTS</a:t>
            </a:r>
          </a:p>
          <a:p>
            <a:pPr>
              <a:spcAft>
                <a:spcPts val="600"/>
              </a:spcAft>
              <a:defRPr sz="950">
                <a:solidFill>
                  <a:srgbClr val="F8FAFC"/>
                </a:solidFill>
              </a:defRPr>
            </a:pPr>
            <a:r>
              <a:t>• Teams: G1 đến G7, track_name, repo_url</a:t>
            </a:r>
          </a:p>
          <a:p>
            <a:pPr>
              <a:spcAft>
                <a:spcPts val="600"/>
              </a:spcAft>
              <a:defRPr sz="950">
                <a:solidFill>
                  <a:srgbClr val="F8FAFC"/>
                </a:solidFill>
              </a:defRPr>
            </a:pPr>
            <a:r>
              <a:t>• TeamMembers: Phân bổ leader / member</a:t>
            </a:r>
          </a:p>
          <a:p>
            <a:pPr>
              <a:spcAft>
                <a:spcPts val="600"/>
              </a:spcAft>
              <a:defRPr sz="950">
                <a:solidFill>
                  <a:srgbClr val="F8FAFC"/>
                </a:solidFill>
              </a:defRPr>
            </a:pPr>
            <a:r>
              <a:t>• Assignments: Prototype URL, Rubric JSON</a:t>
            </a:r>
          </a:p>
          <a:p>
            <a:pPr>
              <a:spcAft>
                <a:spcPts val="600"/>
              </a:spcAft>
              <a:defRPr sz="950">
                <a:solidFill>
                  <a:srgbClr val="F8FAFC"/>
                </a:solidFill>
              </a:defRPr>
            </a:pPr>
            <a:r>
              <a:t>• Submissions: zip_file_path, sha256_hash, priority, status</a:t>
            </a:r>
          </a:p>
          <a:p>
            <a:pPr>
              <a:spcAft>
                <a:spcPts val="600"/>
              </a:spcAft>
              <a:defRPr sz="950">
                <a:solidFill>
                  <a:srgbClr val="F8FAFC"/>
                </a:solidFill>
              </a:defRPr>
            </a:pPr>
            <a:r>
              <a:t>• AIAnalysisResults: similarity, layout</a:t>
            </a:r>
          </a:p>
        </p:txBody>
      </p:sp>
      <p:sp>
        <p:nvSpPr>
          <p:cNvPr id="9" name="Rounded Rectangle 8"/>
          <p:cNvSpPr/>
          <p:nvPr/>
        </p:nvSpPr>
        <p:spPr>
          <a:xfrm>
            <a:off x="6126480" y="1737360"/>
            <a:ext cx="251460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36208" y="1847088"/>
            <a:ext cx="2295144" cy="4261104"/>
          </a:xfrm>
          <a:prstGeom prst="rect">
            <a:avLst/>
          </a:prstGeom>
          <a:noFill/>
        </p:spPr>
        <p:txBody>
          <a:bodyPr wrap="square">
            <a:spAutoFit/>
          </a:bodyPr>
          <a:lstStyle/>
          <a:p>
            <a:pPr>
              <a:spcAft>
                <a:spcPts val="800"/>
              </a:spcAft>
              <a:defRPr sz="1100" b="1">
                <a:solidFill>
                  <a:srgbClr val="10B981"/>
                </a:solidFill>
              </a:defRPr>
            </a:pPr>
            <a:r>
              <a:t>3. GIT ANALYTICS (NHÓM 5)</a:t>
            </a:r>
          </a:p>
          <a:p>
            <a:pPr>
              <a:spcAft>
                <a:spcPts val="600"/>
              </a:spcAft>
              <a:defRPr sz="950">
                <a:solidFill>
                  <a:srgbClr val="F8FAFC"/>
                </a:solidFill>
              </a:defRPr>
            </a:pPr>
            <a:r>
              <a:t>• GitMetrics: metric_id, submission_id</a:t>
            </a:r>
          </a:p>
          <a:p>
            <a:pPr>
              <a:spcAft>
                <a:spcPts val="600"/>
              </a:spcAft>
              <a:defRPr sz="950">
                <a:solidFill>
                  <a:srgbClr val="F8FAFC"/>
                </a:solidFill>
              </a:defRPr>
            </a:pPr>
            <a:r>
              <a:t>• total_commits, lines_added/deleted</a:t>
            </a:r>
          </a:p>
          <a:p>
            <a:pPr>
              <a:spcAft>
                <a:spcPts val="600"/>
              </a:spcAft>
              <a:defRPr sz="950">
                <a:solidFill>
                  <a:srgbClr val="F8FAFC"/>
                </a:solidFill>
              </a:defRPr>
            </a:pPr>
            <a:r>
              <a:t>• net_churn, commit_entropy (0-1.0)</a:t>
            </a:r>
          </a:p>
          <a:p>
            <a:pPr>
              <a:spcAft>
                <a:spcPts val="600"/>
              </a:spcAft>
              <a:defRPr sz="950">
                <a:solidFill>
                  <a:srgbClr val="F8FAFC"/>
                </a:solidFill>
              </a:defRPr>
            </a:pPr>
            <a:r>
              <a:t>• semantic_score, module_ownership</a:t>
            </a:r>
          </a:p>
          <a:p>
            <a:pPr>
              <a:spcAft>
                <a:spcPts val="600"/>
              </a:spcAft>
              <a:defRPr sz="950">
                <a:solidFill>
                  <a:srgbClr val="F8FAFC"/>
                </a:solidFill>
              </a:defRPr>
            </a:pPr>
            <a:r>
              <a:t>• contribution_score (ICS %)</a:t>
            </a:r>
          </a:p>
          <a:p>
            <a:pPr>
              <a:spcAft>
                <a:spcPts val="600"/>
              </a:spcAft>
              <a:defRPr sz="950">
                <a:solidFill>
                  <a:srgbClr val="F8FAFC"/>
                </a:solidFill>
              </a:defRPr>
            </a:pPr>
            <a:r>
              <a:t>• anomaly_flags: Ghost committer...</a:t>
            </a:r>
          </a:p>
        </p:txBody>
      </p:sp>
      <p:sp>
        <p:nvSpPr>
          <p:cNvPr id="11" name="Rounded Rectangle 10"/>
          <p:cNvSpPr/>
          <p:nvPr/>
        </p:nvSpPr>
        <p:spPr>
          <a:xfrm>
            <a:off x="8823960" y="1737360"/>
            <a:ext cx="251460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33688" y="1847088"/>
            <a:ext cx="2295144" cy="4261104"/>
          </a:xfrm>
          <a:prstGeom prst="rect">
            <a:avLst/>
          </a:prstGeom>
          <a:noFill/>
        </p:spPr>
        <p:txBody>
          <a:bodyPr wrap="square">
            <a:spAutoFit/>
          </a:bodyPr>
          <a:lstStyle/>
          <a:p>
            <a:pPr>
              <a:spcAft>
                <a:spcPts val="800"/>
              </a:spcAft>
              <a:defRPr sz="1100" b="1">
                <a:solidFill>
                  <a:srgbClr val="F59E0B"/>
                </a:solidFill>
              </a:defRPr>
            </a:pPr>
            <a:r>
              <a:t>4. ÉCOLE 42 &amp; MOULINETTE</a:t>
            </a:r>
          </a:p>
          <a:p>
            <a:pPr>
              <a:spcAft>
                <a:spcPts val="600"/>
              </a:spcAft>
              <a:defRPr sz="950">
                <a:solidFill>
                  <a:srgbClr val="F8FAFC"/>
                </a:solidFill>
              </a:defRPr>
            </a:pPr>
            <a:r>
              <a:t>• RotationalReviews: G1-&gt;G2..-&gt;G7-&gt;G1</a:t>
            </a:r>
          </a:p>
          <a:p>
            <a:pPr>
              <a:spcAft>
                <a:spcPts val="600"/>
              </a:spcAft>
              <a:defRPr sz="950">
                <a:solidFill>
                  <a:srgbClr val="F8FAFC"/>
                </a:solidFill>
              </a:defRPr>
            </a:pPr>
            <a:r>
              <a:t>• Rubric: 30% Sandbox, 40% CleanCode, 30% Defense</a:t>
            </a:r>
          </a:p>
          <a:p>
            <a:pPr>
              <a:spcAft>
                <a:spcPts val="600"/>
              </a:spcAft>
              <a:defRPr sz="950">
                <a:solidFill>
                  <a:srgbClr val="F8FAFC"/>
                </a:solidFill>
              </a:defRPr>
            </a:pPr>
            <a:r>
              <a:t>• CorrectionPointsWallet: balance (5)</a:t>
            </a:r>
          </a:p>
          <a:p>
            <a:pPr>
              <a:spcAft>
                <a:spcPts val="600"/>
              </a:spcAft>
              <a:defRPr sz="950">
                <a:solidFill>
                  <a:srgbClr val="F8FAFC"/>
                </a:solidFill>
              </a:defRPr>
            </a:pPr>
            <a:r>
              <a:t>• CorrectionPointTransactions: ledger</a:t>
            </a:r>
          </a:p>
          <a:p>
            <a:pPr>
              <a:spcAft>
                <a:spcPts val="600"/>
              </a:spcAft>
              <a:defRPr sz="950">
                <a:solidFill>
                  <a:srgbClr val="F8FAFC"/>
                </a:solidFill>
              </a:defRPr>
            </a:pPr>
            <a:r>
              <a:t>• MoulinetteTestCases: Public &amp; Hidden</a:t>
            </a:r>
          </a:p>
          <a:p>
            <a:pPr>
              <a:spcAft>
                <a:spcPts val="600"/>
              </a:spcAft>
              <a:defRPr sz="950">
                <a:solidFill>
                  <a:srgbClr val="F8FAFC"/>
                </a:solidFill>
              </a:defRPr>
            </a:pPr>
            <a:r>
              <a:t>• MoulinetteResults: exec time, logs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NHÓM 5 DEEP DIVE</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4. Bảng Dữ Liệu Chuyên Sâu GitMetrics &amp; Công thức Điểm ICS %</a:t>
            </a:r>
          </a:p>
          <a:p>
            <a:pPr>
              <a:defRPr sz="1200">
                <a:solidFill>
                  <a:srgbClr val="94A3B8"/>
                </a:solidFill>
              </a:defRPr>
            </a:pPr>
            <a:r>
              <a:t>Định lượng công bằng đóng góp cá nhân dựa trên phân tích commit đa chiều và Entropy thời gian</a:t>
            </a:r>
          </a:p>
        </p:txBody>
      </p:sp>
      <p:sp>
        <p:nvSpPr>
          <p:cNvPr id="5" name="Rounded Rectangle 4"/>
          <p:cNvSpPr/>
          <p:nvPr/>
        </p:nvSpPr>
        <p:spPr>
          <a:xfrm>
            <a:off x="731520" y="1737360"/>
            <a:ext cx="5212080" cy="448056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937760" cy="4297680"/>
          </a:xfrm>
          <a:prstGeom prst="rect">
            <a:avLst/>
          </a:prstGeom>
          <a:noFill/>
        </p:spPr>
        <p:txBody>
          <a:bodyPr wrap="square">
            <a:spAutoFit/>
          </a:bodyPr>
          <a:lstStyle/>
          <a:p>
            <a:pPr>
              <a:spcAft>
                <a:spcPts val="600"/>
              </a:spcAft>
              <a:defRPr sz="1300" b="1">
                <a:solidFill>
                  <a:srgbClr val="06B6D4"/>
                </a:solidFill>
              </a:defRPr>
            </a:pPr>
            <a:r>
              <a:t>CÔNG THỨC ĐIỂM ĐÓNG GÓP (ICS %)</a:t>
            </a:r>
          </a:p>
          <a:p>
            <a:pPr>
              <a:spcAft>
                <a:spcPts val="1000"/>
              </a:spcAft>
              <a:defRPr sz="1150" b="1">
                <a:solidFill>
                  <a:srgbClr val="10B981"/>
                </a:solidFill>
              </a:defRPr>
            </a:pPr>
            <a:r>
              <a:t>ICS_i = 0.20·C_eff + 0.30·L_net + 0.20·D_time + 0.15·S_msg + 0.15·M_own</a:t>
            </a:r>
          </a:p>
          <a:p>
            <a:pPr>
              <a:spcAft>
                <a:spcPts val="500"/>
              </a:spcAft>
              <a:defRPr sz="1050">
                <a:solidFill>
                  <a:srgbClr val="F8FAFC"/>
                </a:solidFill>
              </a:defRPr>
            </a:pPr>
            <a:r>
              <a:t>• C_eff (20%): Số commit hữu ích (loại bỏ commit merge, commit rác).</a:t>
            </a:r>
          </a:p>
          <a:p>
            <a:pPr>
              <a:spcAft>
                <a:spcPts val="500"/>
              </a:spcAft>
              <a:defRPr sz="1050">
                <a:solidFill>
                  <a:srgbClr val="F8FAFC"/>
                </a:solidFill>
              </a:defRPr>
            </a:pPr>
            <a:r>
              <a:t>• L_net (30%): Net Code Churn (LoC added × 0.8 - LoC deleted × 0.2).</a:t>
            </a:r>
          </a:p>
          <a:p>
            <a:pPr>
              <a:spcAft>
                <a:spcPts val="500"/>
              </a:spcAft>
              <a:defRPr sz="1050">
                <a:solidFill>
                  <a:srgbClr val="F8FAFC"/>
                </a:solidFill>
              </a:defRPr>
            </a:pPr>
            <a:r>
              <a:t>• D_time (20%): Entropy phân bố thời gian (chống panic commits).</a:t>
            </a:r>
          </a:p>
          <a:p>
            <a:pPr>
              <a:spcAft>
                <a:spcPts val="500"/>
              </a:spcAft>
              <a:defRPr sz="1050">
                <a:solidFill>
                  <a:srgbClr val="F8FAFC"/>
                </a:solidFill>
              </a:defRPr>
            </a:pPr>
            <a:r>
              <a:t>• S_msg (15%): Chuẩn Conventional Commits (feat:, fix:, refactor:).</a:t>
            </a:r>
          </a:p>
          <a:p>
            <a:pPr>
              <a:spcAft>
                <a:spcPts val="500"/>
              </a:spcAft>
              <a:defRPr sz="1050">
                <a:solidFill>
                  <a:srgbClr val="F8FAFC"/>
                </a:solidFill>
              </a:defRPr>
            </a:pPr>
            <a:r>
              <a:t>• M_own (15%): Tỷ lệ phụ trách module kiến trúc lõi (Servlet, DAO).</a:t>
            </a:r>
          </a:p>
        </p:txBody>
      </p:sp>
      <p:sp>
        <p:nvSpPr>
          <p:cNvPr id="7" name="Rounded Rectangle 6"/>
          <p:cNvSpPr/>
          <p:nvPr/>
        </p:nvSpPr>
        <p:spPr>
          <a:xfrm>
            <a:off x="6217920" y="1737360"/>
            <a:ext cx="52120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28800"/>
            <a:ext cx="4937760" cy="4297680"/>
          </a:xfrm>
          <a:prstGeom prst="rect">
            <a:avLst/>
          </a:prstGeom>
          <a:noFill/>
        </p:spPr>
        <p:txBody>
          <a:bodyPr wrap="square">
            <a:spAutoFit/>
          </a:bodyPr>
          <a:lstStyle/>
          <a:p>
            <a:pPr>
              <a:spcAft>
                <a:spcPts val="1000"/>
              </a:spcAft>
              <a:defRPr sz="1300" b="1">
                <a:solidFill>
                  <a:srgbClr val="6366F1"/>
                </a:solidFill>
              </a:defRPr>
            </a:pPr>
            <a:r>
              <a:t>CƠ CHẾ PHÁT HIỆN BẤT THƯỜNG (ANOMALY FLAGS)</a:t>
            </a:r>
          </a:p>
          <a:p>
            <a:pPr>
              <a:defRPr sz="1100" b="1">
                <a:solidFill>
                  <a:srgbClr val="EF4444"/>
                </a:solidFill>
              </a:defRPr>
            </a:pPr>
            <a:r>
              <a:t>🚨 GHOST_COMMITTER</a:t>
            </a:r>
          </a:p>
          <a:p>
            <a:pPr>
              <a:spcAft>
                <a:spcPts val="400"/>
              </a:spcAft>
              <a:defRPr sz="950">
                <a:solidFill>
                  <a:srgbClr val="F8FAFC"/>
                </a:solidFill>
              </a:defRPr>
            </a:pPr>
            <a:r>
              <a:t>Đóng góp &lt; 15% tổng khối lượng nhóm. Số commit &lt;= 2, ít dòng code hữu ích. Tự động đề xuất hạ bậc điểm cá nhân.</a:t>
            </a:r>
          </a:p>
          <a:p>
            <a:pPr>
              <a:defRPr sz="1100" b="1">
                <a:solidFill>
                  <a:srgbClr val="F59E0B"/>
                </a:solidFill>
              </a:defRPr>
            </a:pPr>
            <a:r>
              <a:t>⏰ 11TH_HOUR_RUSHER</a:t>
            </a:r>
          </a:p>
          <a:p>
            <a:pPr>
              <a:spcAft>
                <a:spcPts val="400"/>
              </a:spcAft>
              <a:defRPr sz="950">
                <a:solidFill>
                  <a:srgbClr val="F8FAFC"/>
                </a:solidFill>
              </a:defRPr>
            </a:pPr>
            <a:r>
              <a:t>Hơn 75% commit dồn vào 12h trước deadline, không hoạt động trong 3 tuần phát triển. Giảm 50% trọng số thời gian.</a:t>
            </a:r>
          </a:p>
          <a:p>
            <a:pPr>
              <a:defRPr sz="1100" b="1">
                <a:solidFill>
                  <a:srgbClr val="06B6D4"/>
                </a:solidFill>
              </a:defRPr>
            </a:pPr>
            <a:r>
              <a:t>🧹 FORMATTING_SPAMMER</a:t>
            </a:r>
          </a:p>
          <a:p>
            <a:pPr>
              <a:spcAft>
                <a:spcPts val="400"/>
              </a:spcAft>
              <a:defRPr sz="950">
                <a:solidFill>
                  <a:srgbClr val="F8FAFC"/>
                </a:solidFill>
              </a:defRPr>
            </a:pPr>
            <a:r>
              <a:t>Đổi tên file hoặc format khoảng trắng trên file CSS/JSON để tăng LoC ảo. Hệ thống lọc bỏ khỏi L_net.</a:t>
            </a:r>
          </a:p>
          <a:p>
            <a:pPr>
              <a:defRPr sz="1100" b="1">
                <a:solidFill>
                  <a:srgbClr val="10B981"/>
                </a:solidFill>
              </a:defRPr>
            </a:pPr>
            <a:r>
              <a:t>👑 CORE_ARCHITECT</a:t>
            </a:r>
          </a:p>
          <a:p>
            <a:pPr>
              <a:spcAft>
                <a:spcPts val="400"/>
              </a:spcAft>
              <a:defRPr sz="950">
                <a:solidFill>
                  <a:srgbClr val="F8FAFC"/>
                </a:solidFill>
              </a:defRPr>
            </a:pPr>
            <a:r>
              <a:t>Đóng góp &gt; 45% khối lượng kiến trúc cốt lõi, commit phân bố đều đặn và độ sở hữu module cao.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TẦNG DỮ LIỆU JDBC</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5. Tầng Truy Xuất Dữ Liệu JDBC Nâng Cao (Clean DAO Pattern)</a:t>
            </a:r>
          </a:p>
          <a:p>
            <a:pPr>
              <a:defRPr sz="1200">
                <a:solidFill>
                  <a:srgbClr val="94A3B8"/>
                </a:solidFill>
              </a:defRPr>
            </a:pPr>
            <a:r>
              <a:t>Kiến trúc kết nối linh hoạt giữa Microsoft SQL Server 2019 và SQLite với khả năng tự phục hồi</a:t>
            </a:r>
          </a:p>
        </p:txBody>
      </p:sp>
      <p:sp>
        <p:nvSpPr>
          <p:cNvPr id="5" name="Rounded Rectangle 4"/>
          <p:cNvSpPr/>
          <p:nvPr/>
        </p:nvSpPr>
        <p:spPr>
          <a:xfrm>
            <a:off x="731520" y="1737360"/>
            <a:ext cx="33832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20"/>
            <a:ext cx="3108960" cy="4206240"/>
          </a:xfrm>
          <a:prstGeom prst="rect">
            <a:avLst/>
          </a:prstGeom>
          <a:noFill/>
        </p:spPr>
        <p:txBody>
          <a:bodyPr wrap="square">
            <a:spAutoFit/>
          </a:bodyPr>
          <a:lstStyle/>
          <a:p>
            <a:pPr>
              <a:spcAft>
                <a:spcPts val="1000"/>
              </a:spcAft>
              <a:defRPr sz="1300" b="1">
                <a:solidFill>
                  <a:srgbClr val="6366F1"/>
                </a:solidFill>
              </a:defRPr>
            </a:pPr>
            <a:r>
              <a:t>1. Dual Database Strategy</a:t>
            </a:r>
          </a:p>
          <a:p>
            <a:pPr>
              <a:spcAft>
                <a:spcPts val="800"/>
              </a:spcAft>
              <a:defRPr sz="1050">
                <a:solidFill>
                  <a:srgbClr val="F8FAFC"/>
                </a:solidFill>
              </a:defRPr>
            </a:pPr>
            <a:r>
              <a:t>• Hỗ trợ đồng thời SQL Server (Production) và SQLite (Local Dev).</a:t>
            </a:r>
          </a:p>
          <a:p>
            <a:pPr>
              <a:spcAft>
                <a:spcPts val="800"/>
              </a:spcAft>
              <a:defRPr sz="1050">
                <a:solidFill>
                  <a:srgbClr val="F8FAFC"/>
                </a:solidFill>
              </a:defRPr>
            </a:pPr>
            <a:r>
              <a:t>• Adapter Pattern: Tự động chuyển đổi hàm thời gian (datetime('now') ➔ DATEADD / GETDATE()).</a:t>
            </a:r>
          </a:p>
          <a:p>
            <a:pPr>
              <a:spcAft>
                <a:spcPts val="800"/>
              </a:spcAft>
              <a:defRPr sz="1050">
                <a:solidFill>
                  <a:srgbClr val="F8FAFC"/>
                </a:solidFill>
              </a:defRPr>
            </a:pPr>
            <a:r>
              <a:t>• Xử lý phân trang tương thích: LIMIT/OFFSET trên SQLite ➔ SELECT TOP / OFFSET-FETCH trên SQL Server.</a:t>
            </a:r>
          </a:p>
          <a:p>
            <a:pPr>
              <a:spcAft>
                <a:spcPts val="800"/>
              </a:spcAft>
              <a:defRPr sz="1050">
                <a:solidFill>
                  <a:srgbClr val="F8FAFC"/>
                </a:solidFill>
              </a:defRPr>
            </a:pPr>
            <a:r>
              <a:t>• Tự động chuyển tiếp (failover) sang SQLite nếu SQL Server chưa bật.</a:t>
            </a:r>
          </a:p>
        </p:txBody>
      </p:sp>
      <p:sp>
        <p:nvSpPr>
          <p:cNvPr id="7" name="Rounded Rectangle 6"/>
          <p:cNvSpPr/>
          <p:nvPr/>
        </p:nvSpPr>
        <p:spPr>
          <a:xfrm>
            <a:off x="4389120" y="1737360"/>
            <a:ext cx="33832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74520"/>
            <a:ext cx="3108960" cy="4206240"/>
          </a:xfrm>
          <a:prstGeom prst="rect">
            <a:avLst/>
          </a:prstGeom>
          <a:noFill/>
        </p:spPr>
        <p:txBody>
          <a:bodyPr wrap="square">
            <a:spAutoFit/>
          </a:bodyPr>
          <a:lstStyle/>
          <a:p>
            <a:pPr>
              <a:spcAft>
                <a:spcPts val="1000"/>
              </a:spcAft>
              <a:defRPr sz="1300" b="1">
                <a:solidFill>
                  <a:srgbClr val="10B981"/>
                </a:solidFill>
              </a:defRPr>
            </a:pPr>
            <a:r>
              <a:t>2. Clean DAO &amp; PreparedStatement</a:t>
            </a:r>
          </a:p>
          <a:p>
            <a:pPr>
              <a:spcAft>
                <a:spcPts val="800"/>
              </a:spcAft>
              <a:defRPr sz="1050">
                <a:solidFill>
                  <a:srgbClr val="F8FAFC"/>
                </a:solidFill>
              </a:defRPr>
            </a:pPr>
            <a:r>
              <a:t>• 100% truy vấn thực thi qua PreparedStatement với tham số dạng Object... params.</a:t>
            </a:r>
          </a:p>
          <a:p>
            <a:pPr>
              <a:spcAft>
                <a:spcPts val="800"/>
              </a:spcAft>
              <a:defRPr sz="1050">
                <a:solidFill>
                  <a:srgbClr val="F8FAFC"/>
                </a:solidFill>
              </a:defRPr>
            </a:pPr>
            <a:r>
              <a:t>• Loại bỏ hoàn toàn lỗ hổng SQL Injection (đã qua kiểm thử payload 'admin' OR '1'='1').</a:t>
            </a:r>
          </a:p>
          <a:p>
            <a:pPr>
              <a:spcAft>
                <a:spcPts val="800"/>
              </a:spcAft>
              <a:defRPr sz="1050">
                <a:solidFill>
                  <a:srgbClr val="F8FAFC"/>
                </a:solidFill>
              </a:defRPr>
            </a:pPr>
            <a:r>
              <a:t>• Tách biệt hoàn toàn: Controller chỉ gọi Interface DAO, không viết SQL trong Controller.</a:t>
            </a:r>
          </a:p>
          <a:p>
            <a:pPr>
              <a:spcAft>
                <a:spcPts val="800"/>
              </a:spcAft>
              <a:defRPr sz="1050">
                <a:solidFill>
                  <a:srgbClr val="F8FAFC"/>
                </a:solidFill>
              </a:defRPr>
            </a:pPr>
            <a:r>
              <a:t>• Ánh xạ tự động: ResultSet ➔ List&lt;Map&lt;String, Object&gt;&gt; và DTOs Models.</a:t>
            </a:r>
          </a:p>
        </p:txBody>
      </p:sp>
      <p:sp>
        <p:nvSpPr>
          <p:cNvPr id="9" name="Rounded Rectangle 8"/>
          <p:cNvSpPr/>
          <p:nvPr/>
        </p:nvSpPr>
        <p:spPr>
          <a:xfrm>
            <a:off x="8046720" y="1737360"/>
            <a:ext cx="338328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874520"/>
            <a:ext cx="3108960" cy="4206240"/>
          </a:xfrm>
          <a:prstGeom prst="rect">
            <a:avLst/>
          </a:prstGeom>
          <a:noFill/>
        </p:spPr>
        <p:txBody>
          <a:bodyPr wrap="square">
            <a:spAutoFit/>
          </a:bodyPr>
          <a:lstStyle/>
          <a:p>
            <a:pPr>
              <a:spcAft>
                <a:spcPts val="1000"/>
              </a:spcAft>
              <a:defRPr sz="1300" b="1">
                <a:solidFill>
                  <a:srgbClr val="F59E0B"/>
                </a:solidFill>
              </a:defRPr>
            </a:pPr>
            <a:r>
              <a:t>3. Connection &amp; Transaction Safe</a:t>
            </a:r>
          </a:p>
          <a:p>
            <a:pPr>
              <a:spcAft>
                <a:spcPts val="800"/>
              </a:spcAft>
              <a:defRPr sz="1050">
                <a:solidFill>
                  <a:srgbClr val="F8FAFC"/>
                </a:solidFill>
              </a:defRPr>
            </a:pPr>
            <a:r>
              <a:t>• Quản lý vòng đời kết nối với cú pháp Java 8 Try-with-resources.</a:t>
            </a:r>
          </a:p>
          <a:p>
            <a:pPr>
              <a:spcAft>
                <a:spcPts val="800"/>
              </a:spcAft>
              <a:defRPr sz="1050">
                <a:solidFill>
                  <a:srgbClr val="F8FAFC"/>
                </a:solidFill>
              </a:defRPr>
            </a:pPr>
            <a:r>
              <a:t>• Tránh rò rỉ kết nối (Connection Leak) khi có số lượng lớn request đồng thời.</a:t>
            </a:r>
          </a:p>
          <a:p>
            <a:pPr>
              <a:spcAft>
                <a:spcPts val="800"/>
              </a:spcAft>
              <a:defRPr sz="1050">
                <a:solidFill>
                  <a:srgbClr val="F8FAFC"/>
                </a:solidFill>
              </a:defRPr>
            </a:pPr>
            <a:r>
              <a:t>• Giao dịch Nguyên tử (Atomic Transactions): conn.setAutoCommit(false), commit() và rollback().</a:t>
            </a:r>
          </a:p>
          <a:p>
            <a:pPr>
              <a:spcAft>
                <a:spcPts val="800"/>
              </a:spcAft>
              <a:defRPr sz="1050">
                <a:solidFill>
                  <a:srgbClr val="F8FAFC"/>
                </a:solidFill>
              </a:defRPr>
            </a:pPr>
            <a:r>
              <a:t>• Sẵn sàng lộ trình Sprint sau: Chuyển đổi/tích hợp JPA/Hibernate ORM.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BẢO MẬT API</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6. Cơ chế Xác Thực Người Dùng JWT Authentication (Mục 4.1.3)</a:t>
            </a:r>
          </a:p>
          <a:p>
            <a:pPr>
              <a:defRPr sz="1200">
                <a:solidFill>
                  <a:srgbClr val="94A3B8"/>
                </a:solidFill>
              </a:defRPr>
            </a:pPr>
            <a:r>
              <a:t>Xác thực phi trạng thái (Stateless), chữ ký bảo mật HMAC-SHA256 và phân quyền vai trò RBAC</a:t>
            </a:r>
          </a:p>
        </p:txBody>
      </p:sp>
      <p:sp>
        <p:nvSpPr>
          <p:cNvPr id="5" name="Rounded Rectangle 4"/>
          <p:cNvSpPr/>
          <p:nvPr/>
        </p:nvSpPr>
        <p:spPr>
          <a:xfrm>
            <a:off x="731520" y="1737360"/>
            <a:ext cx="33832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20"/>
            <a:ext cx="3108960" cy="4206240"/>
          </a:xfrm>
          <a:prstGeom prst="rect">
            <a:avLst/>
          </a:prstGeom>
          <a:noFill/>
        </p:spPr>
        <p:txBody>
          <a:bodyPr wrap="square">
            <a:spAutoFit/>
          </a:bodyPr>
          <a:lstStyle/>
          <a:p>
            <a:pPr>
              <a:spcAft>
                <a:spcPts val="1000"/>
              </a:spcAft>
              <a:defRPr sz="1300" b="1">
                <a:solidFill>
                  <a:srgbClr val="6366F1"/>
                </a:solidFill>
              </a:defRPr>
            </a:pPr>
            <a:r>
              <a:t>HEADER (Thuật Toán)</a:t>
            </a:r>
          </a:p>
          <a:p>
            <a:pPr>
              <a:spcAft>
                <a:spcPts val="800"/>
              </a:spcAft>
              <a:defRPr sz="950">
                <a:solidFill>
                  <a:srgbClr val="F59E0B"/>
                </a:solidFill>
              </a:defRPr>
            </a:pPr>
            <a:r>
              <a:t>{</a:t>
            </a:r>
            <a:br/>
            <a:r>
              <a:t>  "alg": "HS256",</a:t>
            </a:r>
            <a:br/>
            <a:r>
              <a:t>  "typ": "JWT"</a:t>
            </a:r>
            <a:br/>
            <a:r>
              <a:t>}</a:t>
            </a:r>
          </a:p>
          <a:p>
            <a:pPr>
              <a:spcAft>
                <a:spcPts val="800"/>
              </a:spcAft>
              <a:defRPr sz="1050">
                <a:solidFill>
                  <a:srgbClr val="F8FAFC"/>
                </a:solidFill>
              </a:defRPr>
            </a:pPr>
            <a:r>
              <a:t>Khai báo thuật toán mã hóa chữ ký HMAC-SHA256.</a:t>
            </a:r>
          </a:p>
          <a:p>
            <a:pPr>
              <a:spcAft>
                <a:spcPts val="800"/>
              </a:spcAft>
              <a:defRPr sz="1050">
                <a:solidFill>
                  <a:srgbClr val="F8FAFC"/>
                </a:solidFill>
              </a:defRPr>
            </a:pPr>
            <a:r>
              <a:t>Mã hóa Base64URL để đính kèm vào phần đầu của Token chuỗi 3 đoạn.</a:t>
            </a:r>
          </a:p>
        </p:txBody>
      </p:sp>
      <p:sp>
        <p:nvSpPr>
          <p:cNvPr id="7" name="Rounded Rectangle 6"/>
          <p:cNvSpPr/>
          <p:nvPr/>
        </p:nvSpPr>
        <p:spPr>
          <a:xfrm>
            <a:off x="4389120" y="1737360"/>
            <a:ext cx="3383280" cy="448056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74520"/>
            <a:ext cx="3108960" cy="4206240"/>
          </a:xfrm>
          <a:prstGeom prst="rect">
            <a:avLst/>
          </a:prstGeom>
          <a:noFill/>
        </p:spPr>
        <p:txBody>
          <a:bodyPr wrap="square">
            <a:spAutoFit/>
          </a:bodyPr>
          <a:lstStyle/>
          <a:p>
            <a:pPr>
              <a:spcAft>
                <a:spcPts val="1000"/>
              </a:spcAft>
              <a:defRPr sz="1300" b="1">
                <a:solidFill>
                  <a:srgbClr val="06B6D4"/>
                </a:solidFill>
              </a:defRPr>
            </a:pPr>
            <a:r>
              <a:t>PAYLOAD (Claims)</a:t>
            </a:r>
          </a:p>
          <a:p>
            <a:pPr>
              <a:spcAft>
                <a:spcPts val="800"/>
              </a:spcAft>
              <a:defRPr sz="950">
                <a:solidFill>
                  <a:srgbClr val="F59E0B"/>
                </a:solidFill>
              </a:defRPr>
            </a:pPr>
            <a:r>
              <a:t>{</a:t>
            </a:r>
            <a:br/>
            <a:r>
              <a:t>  "userId": 5,</a:t>
            </a:r>
            <a:br/>
            <a:r>
              <a:t>  "email": "huy.nguyen@school.edu",</a:t>
            </a:r>
            <a:br/>
            <a:r>
              <a:t>  "role": "student",</a:t>
            </a:r>
            <a:br/>
            <a:r>
              <a:t>  "teamId": 5,</a:t>
            </a:r>
            <a:br/>
            <a:r>
              <a:t>  "exp": 1727180000000</a:t>
            </a:r>
            <a:br/>
            <a:r>
              <a:t>}</a:t>
            </a:r>
          </a:p>
          <a:p>
            <a:pPr>
              <a:spcAft>
                <a:spcPts val="800"/>
              </a:spcAft>
              <a:defRPr sz="1050">
                <a:solidFill>
                  <a:srgbClr val="F8FAFC"/>
                </a:solidFill>
              </a:defRPr>
            </a:pPr>
            <a:r>
              <a:t>Lưu trữ danh tính người dùng và vai trò bảo mật.</a:t>
            </a:r>
          </a:p>
          <a:p>
            <a:pPr>
              <a:spcAft>
                <a:spcPts val="800"/>
              </a:spcAft>
              <a:defRPr sz="1050">
                <a:solidFill>
                  <a:srgbClr val="F8FAFC"/>
                </a:solidFill>
              </a:defRPr>
            </a:pPr>
            <a:r>
              <a:t>Thời hạn sống (TTL): Mặc định 24 giờ (hết hạn tự động từ chối).</a:t>
            </a:r>
          </a:p>
        </p:txBody>
      </p:sp>
      <p:sp>
        <p:nvSpPr>
          <p:cNvPr id="9" name="Rounded Rectangle 8"/>
          <p:cNvSpPr/>
          <p:nvPr/>
        </p:nvSpPr>
        <p:spPr>
          <a:xfrm>
            <a:off x="8046720" y="1737360"/>
            <a:ext cx="33832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874520"/>
            <a:ext cx="3108960" cy="4206240"/>
          </a:xfrm>
          <a:prstGeom prst="rect">
            <a:avLst/>
          </a:prstGeom>
          <a:noFill/>
        </p:spPr>
        <p:txBody>
          <a:bodyPr wrap="square">
            <a:spAutoFit/>
          </a:bodyPr>
          <a:lstStyle/>
          <a:p>
            <a:pPr>
              <a:spcAft>
                <a:spcPts val="1000"/>
              </a:spcAft>
              <a:defRPr sz="1300" b="1">
                <a:solidFill>
                  <a:srgbClr val="10B981"/>
                </a:solidFill>
              </a:defRPr>
            </a:pPr>
            <a:r>
              <a:t>SIGNATURE (Chữ Ký Số)</a:t>
            </a:r>
          </a:p>
          <a:p>
            <a:pPr>
              <a:spcAft>
                <a:spcPts val="800"/>
              </a:spcAft>
              <a:defRPr sz="950">
                <a:solidFill>
                  <a:srgbClr val="F59E0B"/>
                </a:solidFill>
              </a:defRPr>
            </a:pPr>
            <a:r>
              <a:t>Signature = HMACSHA256(</a:t>
            </a:r>
            <a:br/>
            <a:r>
              <a:t>  Base64Url(Header) + "." + </a:t>
            </a:r>
            <a:br/>
            <a:r>
              <a:t>  Base64Url(Payload),</a:t>
            </a:r>
            <a:br/>
            <a:r>
              <a:t>  JWT_SECRET</a:t>
            </a:r>
            <a:br/>
            <a:r>
              <a:t>)</a:t>
            </a:r>
          </a:p>
          <a:p>
            <a:pPr>
              <a:spcAft>
                <a:spcPts val="800"/>
              </a:spcAft>
              <a:defRPr sz="1050">
                <a:solidFill>
                  <a:srgbClr val="F8FAFC"/>
                </a:solidFill>
              </a:defRPr>
            </a:pPr>
            <a:r>
              <a:t>Chống can thiệp (Tamper-proof): Bất kỳ sự thay đổi nào vào payload đều làm sai lệch chữ ký.</a:t>
            </a:r>
          </a:p>
          <a:p>
            <a:pPr>
              <a:spcAft>
                <a:spcPts val="800"/>
              </a:spcAft>
              <a:defRPr sz="1050">
                <a:solidFill>
                  <a:srgbClr val="F8FAFC"/>
                </a:solidFill>
              </a:defRPr>
            </a:pPr>
            <a:r>
              <a:t>Khóa bí mật: Đọc từ biến môi trường System.getenv('JWT_SECRET'), không hardcode.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GATEWAY SECURITY</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7. Tầng Gateway &amp; Kiến Trúc Servlet Filter (Bảo Mật 2 Lớp)</a:t>
            </a:r>
          </a:p>
          <a:p>
            <a:pPr>
              <a:defRPr sz="1200">
                <a:solidFill>
                  <a:srgbClr val="94A3B8"/>
                </a:solidFill>
              </a:defRPr>
            </a:pPr>
            <a:r>
              <a:t>Kiểm tra bảo mật và toàn vẹn dữ liệu ngay khi nhận request trước khi chuyển vào Controller</a:t>
            </a:r>
          </a:p>
        </p:txBody>
      </p:sp>
      <p:sp>
        <p:nvSpPr>
          <p:cNvPr id="5" name="Rounded Rectangle 4"/>
          <p:cNvSpPr/>
          <p:nvPr/>
        </p:nvSpPr>
        <p:spPr>
          <a:xfrm>
            <a:off x="731520" y="1737360"/>
            <a:ext cx="52120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20"/>
            <a:ext cx="4937760" cy="4206240"/>
          </a:xfrm>
          <a:prstGeom prst="rect">
            <a:avLst/>
          </a:prstGeom>
          <a:noFill/>
        </p:spPr>
        <p:txBody>
          <a:bodyPr wrap="square">
            <a:spAutoFit/>
          </a:bodyPr>
          <a:lstStyle/>
          <a:p>
            <a:pPr>
              <a:spcAft>
                <a:spcPts val="1000"/>
              </a:spcAft>
              <a:defRPr sz="1300" b="1">
                <a:solidFill>
                  <a:srgbClr val="6366F1"/>
                </a:solidFill>
              </a:defRPr>
            </a:pPr>
            <a:r>
              <a:t>🛡️ LỚP 1: JwtAuthFilter (Xác thực &amp; RBAC)</a:t>
            </a:r>
          </a:p>
          <a:p>
            <a:pPr>
              <a:spcAft>
                <a:spcPts val="500"/>
              </a:spcAft>
              <a:defRPr sz="1000">
                <a:solidFill>
                  <a:srgbClr val="F8FAFC"/>
                </a:solidFill>
              </a:defRPr>
            </a:pPr>
            <a:r>
              <a:t>Trích xuất Header: Đọc header 'Authorization: Bearer &lt;token&gt;' từ mọi incoming request.</a:t>
            </a:r>
          </a:p>
          <a:p>
            <a:pPr>
              <a:spcAft>
                <a:spcPts val="500"/>
              </a:spcAft>
              <a:defRPr sz="1000">
                <a:solidFill>
                  <a:srgbClr val="F8FAFC"/>
                </a:solidFill>
              </a:defRPr>
            </a:pPr>
            <a:r>
              <a:t>Xác thực chữ ký: Gọi JwtUtil.parseAndVerify(token), kiểm tra tính toàn vẹn và hạn dùng.</a:t>
            </a:r>
          </a:p>
          <a:p>
            <a:pPr>
              <a:spcAft>
                <a:spcPts val="500"/>
              </a:spcAft>
              <a:defRPr sz="1000">
                <a:solidFill>
                  <a:srgbClr val="F8FAFC"/>
                </a:solidFill>
              </a:defRPr>
            </a:pPr>
            <a:r>
              <a:t>Gán Security Context: Lưu trữ thông tin sinh viên / giảng viên vào Request Attributes.</a:t>
            </a:r>
          </a:p>
          <a:p>
            <a:pPr>
              <a:spcAft>
                <a:spcPts val="500"/>
              </a:spcAft>
              <a:defRPr sz="1000">
                <a:solidFill>
                  <a:srgbClr val="F8FAFC"/>
                </a:solidFill>
              </a:defRPr>
            </a:pPr>
            <a:r>
              <a:t>Phân quyền theo vai trò (RBAC):</a:t>
            </a:r>
          </a:p>
          <a:p>
            <a:pPr>
              <a:spcAft>
                <a:spcPts val="500"/>
              </a:spcAft>
              <a:defRPr sz="1000">
                <a:solidFill>
                  <a:srgbClr val="F8FAFC"/>
                </a:solidFill>
              </a:defRPr>
            </a:pPr>
            <a:r>
              <a:t>  - /api/assignments (POST/DELETE) ➔ Chỉ Giáo viên (teacher) hoặc Admin.</a:t>
            </a:r>
          </a:p>
          <a:p>
            <a:pPr>
              <a:spcAft>
                <a:spcPts val="500"/>
              </a:spcAft>
              <a:defRPr sz="1000">
                <a:solidFill>
                  <a:srgbClr val="F8FAFC"/>
                </a:solidFill>
              </a:defRPr>
            </a:pPr>
            <a:r>
              <a:t>  - /api/submissions (POST) ➔ Chỉ Sinh viên (student).</a:t>
            </a:r>
          </a:p>
          <a:p>
            <a:pPr>
              <a:spcAft>
                <a:spcPts val="500"/>
              </a:spcAft>
              <a:defRPr sz="1000">
                <a:solidFill>
                  <a:srgbClr val="F8FAFC"/>
                </a:solidFill>
              </a:defRPr>
            </a:pPr>
            <a:r>
              <a:t>  - /api/peer-review/submit (POST) ➔ Sinh viên thuộc nhóm chấm.</a:t>
            </a:r>
          </a:p>
          <a:p>
            <a:pPr>
              <a:spcAft>
                <a:spcPts val="500"/>
              </a:spcAft>
              <a:defRPr sz="1000">
                <a:solidFill>
                  <a:srgbClr val="F8FAFC"/>
                </a:solidFill>
              </a:defRPr>
            </a:pPr>
            <a:r>
              <a:t>Từ chối truy cập: Trả ngay HTTP 401 Unauthorized hoặc 403 Forbidden nếu không hợp lệ.</a:t>
            </a:r>
          </a:p>
        </p:txBody>
      </p:sp>
      <p:sp>
        <p:nvSpPr>
          <p:cNvPr id="7" name="Rounded Rectangle 6"/>
          <p:cNvSpPr/>
          <p:nvPr/>
        </p:nvSpPr>
        <p:spPr>
          <a:xfrm>
            <a:off x="6217920" y="1737360"/>
            <a:ext cx="5212080" cy="448056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74520"/>
            <a:ext cx="4937760" cy="4206240"/>
          </a:xfrm>
          <a:prstGeom prst="rect">
            <a:avLst/>
          </a:prstGeom>
          <a:noFill/>
        </p:spPr>
        <p:txBody>
          <a:bodyPr wrap="square">
            <a:spAutoFit/>
          </a:bodyPr>
          <a:lstStyle/>
          <a:p>
            <a:pPr>
              <a:spcAft>
                <a:spcPts val="1000"/>
              </a:spcAft>
              <a:defRPr sz="1300" b="1">
                <a:solidFill>
                  <a:srgbClr val="06B6D4"/>
                </a:solidFill>
              </a:defRPr>
            </a:pPr>
            <a:r>
              <a:t>🔒 LỚP 2: Sha256IntegrityFilter (Cổng Nộp Bài)</a:t>
            </a:r>
          </a:p>
          <a:p>
            <a:pPr>
              <a:spcAft>
                <a:spcPts val="500"/>
              </a:spcAft>
              <a:defRPr sz="1000">
                <a:solidFill>
                  <a:srgbClr val="F8FAFC"/>
                </a:solidFill>
              </a:defRPr>
            </a:pPr>
            <a:r>
              <a:t>Bắt chặn tại Gateway: Chặn ngay khi sinh viên upload file mã nguồn ZIP.</a:t>
            </a:r>
          </a:p>
          <a:p>
            <a:pPr>
              <a:spcAft>
                <a:spcPts val="500"/>
              </a:spcAft>
              <a:defRPr sz="1000">
                <a:solidFill>
                  <a:srgbClr val="F8FAFC"/>
                </a:solidFill>
              </a:defRPr>
            </a:pPr>
            <a:r>
              <a:t>Băm SHA-256 nhị phân: Đọc trực tiếp byte stream (8KB buffer), tính mã hash 64 ký tự hex.</a:t>
            </a:r>
          </a:p>
          <a:p>
            <a:pPr>
              <a:spcAft>
                <a:spcPts val="500"/>
              </a:spcAft>
              <a:defRPr sz="1000">
                <a:solidFill>
                  <a:srgbClr val="F8FAFC"/>
                </a:solidFill>
              </a:defRPr>
            </a:pPr>
            <a:r>
              <a:t>Đối chiếu Checksum: So khớp mã băm tính toán với mã do client gửi lên (chống can thiệp file/MITM).</a:t>
            </a:r>
          </a:p>
          <a:p>
            <a:pPr>
              <a:spcAft>
                <a:spcPts val="500"/>
              </a:spcAft>
              <a:defRPr sz="1000">
                <a:solidFill>
                  <a:srgbClr val="F8FAFC"/>
                </a:solidFill>
              </a:defRPr>
            </a:pPr>
            <a:r>
              <a:t>Quét an toàn Zip Slip: Kiểm tra tên tệp bên trong ZIP, từ chối ngay lập tức nếu phát hiện ký tự path traversal ('../../') trước khi giải nén.</a:t>
            </a:r>
          </a:p>
          <a:p>
            <a:pPr>
              <a:spcAft>
                <a:spcPts val="500"/>
              </a:spcAft>
              <a:defRPr sz="1000">
                <a:solidFill>
                  <a:srgbClr val="F8FAFC"/>
                </a:solidFill>
              </a:defRPr>
            </a:pPr>
            <a:r>
              <a:t>Kiểm tra Ví Điểm: Gọi PeerReviewService.debitCorrectionPoint(teamId) trừ 1 điểm sửa lỗi trước khi nộp.</a:t>
            </a:r>
          </a:p>
          <a:p>
            <a:pPr>
              <a:spcAft>
                <a:spcPts val="500"/>
              </a:spcAft>
              <a:defRPr sz="1000">
                <a:solidFill>
                  <a:srgbClr val="F8FAFC"/>
                </a:solidFill>
              </a:defRPr>
            </a:pPr>
            <a:r>
              <a:t>Đưa vào Hàng Đợi: Ghi nhận trạng thái 'queued' và đẩy tác vụ vào Redis Job Queue.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MÔ HÌNH ĐÀO TẠO</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8. Quy trình Đánh giá Đồng đẳng (École 42) &amp; Điểm Sửa Lỗi</a:t>
            </a:r>
          </a:p>
          <a:p>
            <a:pPr>
              <a:defRPr sz="1200">
                <a:solidFill>
                  <a:srgbClr val="94A3B8"/>
                </a:solidFill>
              </a:defRPr>
            </a:pPr>
            <a:r>
              <a:t>Mô hình chấm chéo vòng tròn khép kín và cơ chế ví điểm sửa lỗi khuyến khích học hỏi đa chiều</a:t>
            </a:r>
          </a:p>
        </p:txBody>
      </p:sp>
      <p:sp>
        <p:nvSpPr>
          <p:cNvPr id="5" name="Rounded Rectangle 4"/>
          <p:cNvSpPr/>
          <p:nvPr/>
        </p:nvSpPr>
        <p:spPr>
          <a:xfrm>
            <a:off x="731520" y="1737360"/>
            <a:ext cx="3383280" cy="448056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20"/>
            <a:ext cx="3108960" cy="4206240"/>
          </a:xfrm>
          <a:prstGeom prst="rect">
            <a:avLst/>
          </a:prstGeom>
          <a:noFill/>
        </p:spPr>
        <p:txBody>
          <a:bodyPr wrap="square">
            <a:spAutoFit/>
          </a:bodyPr>
          <a:lstStyle/>
          <a:p>
            <a:pPr>
              <a:spcAft>
                <a:spcPts val="1000"/>
              </a:spcAft>
              <a:defRPr sz="1250" b="1">
                <a:solidFill>
                  <a:srgbClr val="06B6D4"/>
                </a:solidFill>
              </a:defRPr>
            </a:pPr>
            <a:r>
              <a:t>Vòng Tròn Chấm Chéo Khép Kín</a:t>
            </a:r>
          </a:p>
          <a:p>
            <a:pPr>
              <a:spcAft>
                <a:spcPts val="800"/>
              </a:spcAft>
              <a:defRPr sz="1050">
                <a:solidFill>
                  <a:srgbClr val="F8FAFC"/>
                </a:solidFill>
              </a:defRPr>
            </a:pPr>
            <a:r>
              <a:t>• Nguyên lý: Nhóm G(i) chấm nhóm G(i+1) % 7.</a:t>
            </a:r>
          </a:p>
          <a:p>
            <a:pPr>
              <a:spcAft>
                <a:spcPts val="800"/>
              </a:spcAft>
              <a:defRPr sz="1050">
                <a:solidFill>
                  <a:srgbClr val="F8FAFC"/>
                </a:solidFill>
              </a:defRPr>
            </a:pPr>
            <a:r>
              <a:t>• G1 ➔ G2 ➔ G3 ➔ G4 ➔ G5 ➔ G6 ➔ G7 ➔ G1.</a:t>
            </a:r>
          </a:p>
          <a:p>
            <a:pPr>
              <a:spcAft>
                <a:spcPts val="800"/>
              </a:spcAft>
              <a:defRPr sz="1050">
                <a:solidFill>
                  <a:srgbClr val="F8FAFC"/>
                </a:solidFill>
              </a:defRPr>
            </a:pPr>
            <a:r>
              <a:t>• Không chấm đối ứng: Loại bỏ hoàn toàn tình trạng chấm thiên vị hoặc 'bắt tay nâng điểm' giữa hai nhóm bạn.</a:t>
            </a:r>
          </a:p>
          <a:p>
            <a:pPr>
              <a:spcAft>
                <a:spcPts val="800"/>
              </a:spcAft>
              <a:defRPr sz="1050">
                <a:solidFill>
                  <a:srgbClr val="F8FAFC"/>
                </a:solidFill>
              </a:defRPr>
            </a:pPr>
            <a:r>
              <a:t>• Mỗi nhóm bắt buộc phải nghiên cứu sâu kiến trúc hệ thống của nhóm bạn trước buổi vấn đáp.</a:t>
            </a:r>
          </a:p>
        </p:txBody>
      </p:sp>
      <p:sp>
        <p:nvSpPr>
          <p:cNvPr id="7" name="Rounded Rectangle 6"/>
          <p:cNvSpPr/>
          <p:nvPr/>
        </p:nvSpPr>
        <p:spPr>
          <a:xfrm>
            <a:off x="4389120" y="1737360"/>
            <a:ext cx="338328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74520"/>
            <a:ext cx="3108960" cy="4206240"/>
          </a:xfrm>
          <a:prstGeom prst="rect">
            <a:avLst/>
          </a:prstGeom>
          <a:noFill/>
        </p:spPr>
        <p:txBody>
          <a:bodyPr wrap="square">
            <a:spAutoFit/>
          </a:bodyPr>
          <a:lstStyle/>
          <a:p>
            <a:pPr>
              <a:spcAft>
                <a:spcPts val="1000"/>
              </a:spcAft>
              <a:defRPr sz="1250" b="1">
                <a:solidFill>
                  <a:srgbClr val="F59E0B"/>
                </a:solidFill>
              </a:defRPr>
            </a:pPr>
            <a:r>
              <a:t>Ví Điểm Sửa Lỗi (Correction Points)</a:t>
            </a:r>
          </a:p>
          <a:p>
            <a:pPr>
              <a:spcAft>
                <a:spcPts val="800"/>
              </a:spcAft>
              <a:defRPr sz="1050">
                <a:solidFill>
                  <a:srgbClr val="F8FAFC"/>
                </a:solidFill>
              </a:defRPr>
            </a:pPr>
            <a:r>
              <a:t>• Bắt đầu: Mỗi nhóm/sinh viên được cấp ban đầu 5 điểm sửa lỗi.</a:t>
            </a:r>
          </a:p>
          <a:p>
            <a:pPr>
              <a:spcAft>
                <a:spcPts val="800"/>
              </a:spcAft>
              <a:defRPr sz="1050">
                <a:solidFill>
                  <a:srgbClr val="F8FAFC"/>
                </a:solidFill>
              </a:defRPr>
            </a:pPr>
            <a:r>
              <a:t>• Chi phí nộp bài (-1 điểm): Muốn gửi đồ án để người khác chấm, nhóm phải tiêu tốn 1 điểm.</a:t>
            </a:r>
          </a:p>
          <a:p>
            <a:pPr>
              <a:spcAft>
                <a:spcPts val="800"/>
              </a:spcAft>
              <a:defRPr sz="1050">
                <a:solidFill>
                  <a:srgbClr val="F8FAFC"/>
                </a:solidFill>
              </a:defRPr>
            </a:pPr>
            <a:r>
              <a:t>• Thưởng đi chấm (+1 điểm): Nhóm cử đại diện đi chấm bài cho nhóm bạn theo lịch luân chuyển được cộng lại 1 điểm.</a:t>
            </a:r>
          </a:p>
          <a:p>
            <a:pPr>
              <a:spcAft>
                <a:spcPts val="800"/>
              </a:spcAft>
              <a:defRPr sz="1050">
                <a:solidFill>
                  <a:srgbClr val="F8FAFC"/>
                </a:solidFill>
              </a:defRPr>
            </a:pPr>
            <a:r>
              <a:t>• Hết điểm = Khóa quyền nộp bài: Buộc 100% sinh viên phải đi review code cho bạn.</a:t>
            </a:r>
          </a:p>
        </p:txBody>
      </p:sp>
      <p:sp>
        <p:nvSpPr>
          <p:cNvPr id="9" name="Rounded Rectangle 8"/>
          <p:cNvSpPr/>
          <p:nvPr/>
        </p:nvSpPr>
        <p:spPr>
          <a:xfrm>
            <a:off x="8046720" y="1737360"/>
            <a:ext cx="33832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874520"/>
            <a:ext cx="3108960" cy="4206240"/>
          </a:xfrm>
          <a:prstGeom prst="rect">
            <a:avLst/>
          </a:prstGeom>
          <a:noFill/>
        </p:spPr>
        <p:txBody>
          <a:bodyPr wrap="square">
            <a:spAutoFit/>
          </a:bodyPr>
          <a:lstStyle/>
          <a:p>
            <a:pPr>
              <a:spcAft>
                <a:spcPts val="1000"/>
              </a:spcAft>
              <a:defRPr sz="1250" b="1">
                <a:solidFill>
                  <a:srgbClr val="10B981"/>
                </a:solidFill>
              </a:defRPr>
            </a:pPr>
            <a:r>
              <a:t>Bộ Tiêu Chuẩn Rubric (30/40/30)</a:t>
            </a:r>
          </a:p>
          <a:p>
            <a:pPr>
              <a:spcAft>
                <a:spcPts val="800"/>
              </a:spcAft>
              <a:defRPr sz="1050">
                <a:solidFill>
                  <a:srgbClr val="F8FAFC"/>
                </a:solidFill>
              </a:defRPr>
            </a:pPr>
            <a:r>
              <a:t>• 1. Sandbox Compliance (30%): Build và chạy ổn định trong container Docker cách ly mạng.</a:t>
            </a:r>
          </a:p>
          <a:p>
            <a:pPr>
              <a:spcAft>
                <a:spcPts val="800"/>
              </a:spcAft>
              <a:defRPr sz="1050">
                <a:solidFill>
                  <a:srgbClr val="F8FAFC"/>
                </a:solidFill>
              </a:defRPr>
            </a:pPr>
            <a:r>
              <a:t>• 2. MVC2 / Clean Code (40%): Phân chia package rõ ràng, DAO/JDBC chuẩn, SHA-256 Filter bảo vệ artifact.</a:t>
            </a:r>
          </a:p>
          <a:p>
            <a:pPr>
              <a:spcAft>
                <a:spcPts val="800"/>
              </a:spcAft>
              <a:defRPr sz="1050">
                <a:solidFill>
                  <a:srgbClr val="F8FAFC"/>
                </a:solidFill>
              </a:defRPr>
            </a:pPr>
            <a:r>
              <a:t>• 3. Peer Defense (30%): Vấn đáp trực tiếp 15 phút, giải trình logic và trả lời chất vấn phản biện.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CHẤM TỰ ĐỘNG &amp; SANDBOX</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9. Chấm Tự Động Moulinette &amp; Môi Trường Docker Sandbox</a:t>
            </a:r>
          </a:p>
          <a:p>
            <a:pPr>
              <a:defRPr sz="1200">
                <a:solidFill>
                  <a:srgbClr val="94A3B8"/>
                </a:solidFill>
              </a:defRPr>
            </a:pPr>
            <a:r>
              <a:t>Hệ thống kiểm thử tự động hai tầng kết hợp môi trường thực thi an toàn tuyệt đối</a:t>
            </a:r>
          </a:p>
        </p:txBody>
      </p:sp>
      <p:sp>
        <p:nvSpPr>
          <p:cNvPr id="5" name="Rounded Rectangle 4"/>
          <p:cNvSpPr/>
          <p:nvPr/>
        </p:nvSpPr>
        <p:spPr>
          <a:xfrm>
            <a:off x="731520" y="1737360"/>
            <a:ext cx="5212080" cy="4480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20"/>
            <a:ext cx="4937760" cy="4206240"/>
          </a:xfrm>
          <a:prstGeom prst="rect">
            <a:avLst/>
          </a:prstGeom>
          <a:noFill/>
        </p:spPr>
        <p:txBody>
          <a:bodyPr wrap="square">
            <a:spAutoFit/>
          </a:bodyPr>
          <a:lstStyle/>
          <a:p>
            <a:pPr>
              <a:spcAft>
                <a:spcPts val="1000"/>
              </a:spcAft>
              <a:defRPr sz="1300" b="1">
                <a:solidFill>
                  <a:srgbClr val="EF4444"/>
                </a:solidFill>
              </a:defRPr>
            </a:pPr>
            <a:r>
              <a:t>🤖 MOULINETTE AUTOMATED TEST SUITE</a:t>
            </a:r>
          </a:p>
          <a:p>
            <a:pPr>
              <a:spcAft>
                <a:spcPts val="300"/>
              </a:spcAft>
              <a:defRPr sz="1100" b="1">
                <a:solidFill>
                  <a:srgbClr val="06B6D4"/>
                </a:solidFill>
              </a:defRPr>
            </a:pPr>
            <a:r>
              <a:t>PUBLIC TEST CASES (Smoke Tests)</a:t>
            </a:r>
          </a:p>
          <a:p>
            <a:pPr>
              <a:spcAft>
                <a:spcPts val="300"/>
              </a:spcAft>
              <a:defRPr sz="950">
                <a:solidFill>
                  <a:srgbClr val="F8FAFC"/>
                </a:solidFill>
              </a:defRPr>
            </a:pPr>
            <a:r>
              <a:t>  • TC_PUB_01: Kiểm tra tính đúng đắn của mã băm SHA-256 64 ký tự.</a:t>
            </a:r>
          </a:p>
          <a:p>
            <a:pPr>
              <a:spcAft>
                <a:spcPts val="300"/>
              </a:spcAft>
              <a:defRPr sz="950">
                <a:solidFill>
                  <a:srgbClr val="F8FAFC"/>
                </a:solidFill>
              </a:defRPr>
            </a:pPr>
            <a:r>
              <a:t>  • TC_PUB_02: Kiểm tra cấu trúc package chuẩn MVC2 (controller, service, dao, model).</a:t>
            </a:r>
          </a:p>
          <a:p>
            <a:pPr>
              <a:spcAft>
                <a:spcPts val="300"/>
              </a:spcAft>
              <a:defRPr sz="950">
                <a:solidFill>
                  <a:srgbClr val="F8FAFC"/>
                </a:solidFill>
              </a:defRPr>
            </a:pPr>
            <a:r>
              <a:t>  • TC_PUB_03: Kiểm tra thiết lập cách ly mạng của container Docker (--network none).</a:t>
            </a:r>
          </a:p>
          <a:p>
            <a:pPr>
              <a:spcAft>
                <a:spcPts val="300"/>
              </a:spcAft>
              <a:defRPr sz="1100" b="1">
                <a:solidFill>
                  <a:srgbClr val="F59E0B"/>
                </a:solidFill>
              </a:defRPr>
            </a:pPr>
            <a:r>
              <a:t>HIDDEN TEST CASES (Edge Cases &amp; Security)</a:t>
            </a:r>
          </a:p>
          <a:p>
            <a:pPr>
              <a:spcAft>
                <a:spcPts val="300"/>
              </a:spcAft>
              <a:defRPr sz="950">
                <a:solidFill>
                  <a:srgbClr val="F8FAFC"/>
                </a:solidFill>
              </a:defRPr>
            </a:pPr>
            <a:r>
              <a:t>  • TC_HID_01: Zip Slip Path Traversal (Kiểm tra bắt ngoại lệ khi upload '../../' payload).</a:t>
            </a:r>
          </a:p>
          <a:p>
            <a:pPr>
              <a:spcAft>
                <a:spcPts val="300"/>
              </a:spcAft>
              <a:defRPr sz="950">
                <a:solidFill>
                  <a:srgbClr val="F8FAFC"/>
                </a:solidFill>
              </a:defRPr>
            </a:pPr>
            <a:r>
              <a:t>  • TC_HID_02: Author Spoofing &amp; Empty Commits (Phát hiện commit giả mạo tác giả).</a:t>
            </a:r>
          </a:p>
          <a:p>
            <a:pPr>
              <a:spcAft>
                <a:spcPts val="300"/>
              </a:spcAft>
              <a:defRPr sz="950">
                <a:solidFill>
                  <a:srgbClr val="F8FAFC"/>
                </a:solidFill>
              </a:defRPr>
            </a:pPr>
            <a:r>
              <a:t>  • TC_HID_03: Process Watchdog Timeout (Chống vòng lặp while(true), ngắt sau 45s).</a:t>
            </a:r>
          </a:p>
        </p:txBody>
      </p:sp>
      <p:sp>
        <p:nvSpPr>
          <p:cNvPr id="7" name="Rounded Rectangle 6"/>
          <p:cNvSpPr/>
          <p:nvPr/>
        </p:nvSpPr>
        <p:spPr>
          <a:xfrm>
            <a:off x="6217920" y="1737360"/>
            <a:ext cx="52120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74520"/>
            <a:ext cx="4937760" cy="4206240"/>
          </a:xfrm>
          <a:prstGeom prst="rect">
            <a:avLst/>
          </a:prstGeom>
          <a:noFill/>
        </p:spPr>
        <p:txBody>
          <a:bodyPr wrap="square">
            <a:spAutoFit/>
          </a:bodyPr>
          <a:lstStyle/>
          <a:p>
            <a:pPr>
              <a:spcAft>
                <a:spcPts val="1000"/>
              </a:spcAft>
              <a:defRPr sz="1300" b="1">
                <a:solidFill>
                  <a:srgbClr val="6366F1"/>
                </a:solidFill>
              </a:defRPr>
            </a:pPr>
            <a:r>
              <a:t>📦 DOCKER SANDBOX ISOLATION</a:t>
            </a:r>
          </a:p>
          <a:p>
            <a:pPr>
              <a:spcAft>
                <a:spcPts val="600"/>
              </a:spcAft>
              <a:defRPr sz="1000">
                <a:solidFill>
                  <a:srgbClr val="F8FAFC"/>
                </a:solidFill>
              </a:defRPr>
            </a:pPr>
            <a:r>
              <a:t>• Network-Isolated (--network none): Container hoàn toàn không thể truy cập internet hay mạng nội bộ.</a:t>
            </a:r>
          </a:p>
          <a:p>
            <a:pPr>
              <a:spcAft>
                <a:spcPts val="600"/>
              </a:spcAft>
              <a:defRPr sz="1000">
                <a:solidFill>
                  <a:srgbClr val="F8FAFC"/>
                </a:solidFill>
              </a:defRPr>
            </a:pPr>
            <a:r>
              <a:t>• Memory Limit (--memory=512m): Chống tràn bộ nhớ và tấn công tiêu hao RAM.</a:t>
            </a:r>
          </a:p>
          <a:p>
            <a:pPr>
              <a:spcAft>
                <a:spcPts val="600"/>
              </a:spcAft>
              <a:defRPr sz="1000">
                <a:solidFill>
                  <a:srgbClr val="F8FAFC"/>
                </a:solidFill>
              </a:defRPr>
            </a:pPr>
            <a:r>
              <a:t>• CPU Limit (--cpus=1.0): Chỉ cấp phát tối đa 1 CPU core cho tiến trình biên dịch.</a:t>
            </a:r>
          </a:p>
          <a:p>
            <a:pPr>
              <a:spcAft>
                <a:spcPts val="600"/>
              </a:spcAft>
              <a:defRPr sz="1000">
                <a:solidFill>
                  <a:srgbClr val="F8FAFC"/>
                </a:solidFill>
              </a:defRPr>
            </a:pPr>
            <a:r>
              <a:t>• Process Limit (--pids-limit=64): Ngăn chặn triệt để tấn công Fork Bomb làm treo máy chủ.</a:t>
            </a:r>
          </a:p>
          <a:p>
            <a:pPr>
              <a:spcAft>
                <a:spcPts val="600"/>
              </a:spcAft>
              <a:defRPr sz="1000">
                <a:solidFill>
                  <a:srgbClr val="F8FAFC"/>
                </a:solidFill>
              </a:defRPr>
            </a:pPr>
            <a:r>
              <a:t>• Watchdog Timer (45s): Ngắt tiến trình cưỡng bức (docker kill) nếu mã nguồn sinh viên chạy quá thời gian.</a:t>
            </a:r>
          </a:p>
          <a:p>
            <a:pPr>
              <a:spcAft>
                <a:spcPts val="600"/>
              </a:spcAft>
              <a:defRPr sz="1000">
                <a:solidFill>
                  <a:srgbClr val="F8FAFC"/>
                </a:solidFill>
              </a:defRPr>
            </a:pPr>
            <a:r>
              <a:t>• Local Fallback Runner: Tích hợp bộ chạy cách ly an toàn trên môi trường Windows dev khi chưa bật Docker daemon.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KIỂM THỬ THỰC TẾ</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10. Minh Chứng Triển Khai Thực Tế &amp; Kết Quả Kiểm Thử (85/85 Pass)</a:t>
            </a:r>
          </a:p>
          <a:p>
            <a:pPr>
              <a:defRPr sz="1200">
                <a:solidFill>
                  <a:srgbClr val="94A3B8"/>
                </a:solidFill>
              </a:defRPr>
            </a:pPr>
            <a:r>
              <a:t>Xác thực toàn diện trên cả Microsoft SQL Server 2019 và SQLite với kiểm thử tự động 100%</a:t>
            </a:r>
          </a:p>
        </p:txBody>
      </p:sp>
      <p:sp>
        <p:nvSpPr>
          <p:cNvPr id="5" name="Rounded Rectangle 4"/>
          <p:cNvSpPr/>
          <p:nvPr/>
        </p:nvSpPr>
        <p:spPr>
          <a:xfrm>
            <a:off x="731520" y="1737360"/>
            <a:ext cx="52120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937760" cy="4297680"/>
          </a:xfrm>
          <a:prstGeom prst="rect">
            <a:avLst/>
          </a:prstGeom>
          <a:noFill/>
        </p:spPr>
        <p:txBody>
          <a:bodyPr wrap="square">
            <a:spAutoFit/>
          </a:bodyPr>
          <a:lstStyle/>
          <a:p>
            <a:pPr>
              <a:spcAft>
                <a:spcPts val="800"/>
              </a:spcAft>
              <a:defRPr sz="1250" b="1">
                <a:solidFill>
                  <a:srgbClr val="10B981"/>
                </a:solidFill>
              </a:defRPr>
            </a:pPr>
            <a:r>
              <a:t>✅ KẾT QUẢ KIỂM THỬ TỰ ĐỘNG (BACKEND TESTS)</a:t>
            </a:r>
          </a:p>
          <a:p>
            <a:pPr>
              <a:spcAft>
                <a:spcPts val="500"/>
              </a:spcAft>
              <a:defRPr sz="1000">
                <a:solidFill>
                  <a:srgbClr val="F8FAFC"/>
                </a:solidFill>
              </a:defRPr>
            </a:pPr>
            <a:r>
              <a:t>✓ TỔNG CỘNG: 85 PASSED, 0 FAILED (100% Assertion Success).</a:t>
            </a:r>
          </a:p>
          <a:p>
            <a:pPr>
              <a:spcAft>
                <a:spcPts val="500"/>
              </a:spcAft>
              <a:defRPr sz="1000">
                <a:solidFill>
                  <a:srgbClr val="F8FAFC"/>
                </a:solidFill>
              </a:defRPr>
            </a:pPr>
            <a:r>
              <a:t>✓ Database Tables: Khởi tạo thành công 19/19 bảng trên SQL Server.</a:t>
            </a:r>
          </a:p>
          <a:p>
            <a:pPr>
              <a:spcAft>
                <a:spcPts val="500"/>
              </a:spcAft>
              <a:defRPr sz="1000">
                <a:solidFill>
                  <a:srgbClr val="F8FAFC"/>
                </a:solidFill>
              </a:defRPr>
            </a:pPr>
            <a:r>
              <a:t>✓ SHA-256 Filter: Kiểm tra đúng checksum 64 hex, từ chối file tampered.</a:t>
            </a:r>
          </a:p>
          <a:p>
            <a:pPr>
              <a:spcAft>
                <a:spcPts val="500"/>
              </a:spcAft>
              <a:defRPr sz="1000">
                <a:solidFill>
                  <a:srgbClr val="F8FAFC"/>
                </a:solidFill>
              </a:defRPr>
            </a:pPr>
            <a:r>
              <a:t>✓ Zip Slip Resilience: Phát hiện và chặn đứng payload '../../'.</a:t>
            </a:r>
          </a:p>
          <a:p>
            <a:pPr>
              <a:spcAft>
                <a:spcPts val="500"/>
              </a:spcAft>
              <a:defRPr sz="1000">
                <a:solidFill>
                  <a:srgbClr val="F8FAFC"/>
                </a:solidFill>
              </a:defRPr>
            </a:pPr>
            <a:r>
              <a:t>✓ JWT Authentication: Ký HMAC-SHA256, xác thực Claims và từ chối token giả mạo.</a:t>
            </a:r>
          </a:p>
          <a:p>
            <a:pPr>
              <a:spcAft>
                <a:spcPts val="500"/>
              </a:spcAft>
              <a:defRPr sz="1000">
                <a:solidFill>
                  <a:srgbClr val="F8FAFC"/>
                </a:solidFill>
              </a:defRPr>
            </a:pPr>
            <a:r>
              <a:t>✓ Git Analytics: Phân tích 3 commits, tính ICS Alice &gt; 70%, bắt cờ GHOST_COMMITTER cho Bob.</a:t>
            </a:r>
          </a:p>
          <a:p>
            <a:pPr>
              <a:spcAft>
                <a:spcPts val="500"/>
              </a:spcAft>
              <a:defRPr sz="1000">
                <a:solidFill>
                  <a:srgbClr val="F8FAFC"/>
                </a:solidFill>
              </a:defRPr>
            </a:pPr>
            <a:r>
              <a:t>✓ École 42: Rubric 30/40/30 tính chuẩn xác 8.9/10, cộng +1 điểm vào ví.</a:t>
            </a:r>
          </a:p>
          <a:p>
            <a:pPr>
              <a:spcAft>
                <a:spcPts val="500"/>
              </a:spcAft>
              <a:defRPr sz="1000">
                <a:solidFill>
                  <a:srgbClr val="F8FAFC"/>
                </a:solidFill>
              </a:defRPr>
            </a:pPr>
            <a:r>
              <a:t>✓ Moulinette: 6/6 test cases (Public &amp; Hidden) vượt qua thành công.</a:t>
            </a:r>
          </a:p>
        </p:txBody>
      </p:sp>
      <p:sp>
        <p:nvSpPr>
          <p:cNvPr id="7" name="Rounded Rectangle 6"/>
          <p:cNvSpPr/>
          <p:nvPr/>
        </p:nvSpPr>
        <p:spPr>
          <a:xfrm>
            <a:off x="6217920" y="1737360"/>
            <a:ext cx="5212080" cy="448056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28800"/>
            <a:ext cx="4937760" cy="4297680"/>
          </a:xfrm>
          <a:prstGeom prst="rect">
            <a:avLst/>
          </a:prstGeom>
          <a:noFill/>
        </p:spPr>
        <p:txBody>
          <a:bodyPr wrap="square">
            <a:spAutoFit/>
          </a:bodyPr>
          <a:lstStyle/>
          <a:p>
            <a:pPr>
              <a:spcAft>
                <a:spcPts val="800"/>
              </a:spcAft>
              <a:defRPr sz="1250" b="1">
                <a:solidFill>
                  <a:srgbClr val="06B6D4"/>
                </a:solidFill>
              </a:defRPr>
            </a:pPr>
            <a:r>
              <a:t>🚀 TRẠNG THÁI SERVER ĐANG HOẠT ĐỘNG</a:t>
            </a:r>
          </a:p>
          <a:p>
            <a:pPr>
              <a:spcAft>
                <a:spcPts val="500"/>
              </a:spcAft>
              <a:defRPr sz="1000">
                <a:solidFill>
                  <a:srgbClr val="F8FAFC"/>
                </a:solidFill>
              </a:defRPr>
            </a:pPr>
            <a:r>
              <a:t>• Endpoint: http://localhost:8080 (Java Backend REST API).</a:t>
            </a:r>
          </a:p>
          <a:p>
            <a:pPr>
              <a:spcAft>
                <a:spcPts val="500"/>
              </a:spcAft>
              <a:defRPr sz="1000">
                <a:solidFill>
                  <a:srgbClr val="F8FAFC"/>
                </a:solidFill>
              </a:defRPr>
            </a:pPr>
            <a:r>
              <a:t>• Database Engine: Microsoft SQL Server (localhost\MAYAO).</a:t>
            </a:r>
          </a:p>
          <a:p>
            <a:pPr>
              <a:spcAft>
                <a:spcPts val="500"/>
              </a:spcAft>
              <a:defRPr sz="1000">
                <a:solidFill>
                  <a:srgbClr val="F8FAFC"/>
                </a:solidFill>
              </a:defRPr>
            </a:pPr>
            <a:r>
              <a:t>• Kết nối JDBC: jdbc:sqlserver://localhost:61370;databaseName=AIGradingDB.</a:t>
            </a:r>
          </a:p>
          <a:p>
            <a:pPr>
              <a:spcAft>
                <a:spcPts val="500"/>
              </a:spcAft>
              <a:defRPr sz="1000">
                <a:solidFill>
                  <a:srgbClr val="F8FAFC"/>
                </a:solidFill>
              </a:defRPr>
            </a:pPr>
            <a:r>
              <a:t>• Dữ liệu 7 Nhóm: G1 đến G7 đồng bộ hoàn chỉnh trên SQL Server.</a:t>
            </a:r>
          </a:p>
          <a:p>
            <a:pPr>
              <a:spcAft>
                <a:spcPts val="500"/>
              </a:spcAft>
              <a:defRPr sz="1000">
                <a:solidFill>
                  <a:srgbClr val="F8FAFC"/>
                </a:solidFill>
              </a:defRPr>
            </a:pPr>
            <a:r>
              <a:t>• Hàng đợi Redis: Worker Daemon nền đang lắng nghe điều phối chấm bài.</a:t>
            </a:r>
          </a:p>
          <a:p>
            <a:pPr>
              <a:spcAft>
                <a:spcPts val="500"/>
              </a:spcAft>
              <a:defRPr sz="1000">
                <a:solidFill>
                  <a:srgbClr val="F8FAFC"/>
                </a:solidFill>
              </a:defRPr>
            </a:pPr>
            <a:r>
              <a:t>• Giao diện trực tiếp: Đã tích hợp 3 tab chuyên biệt:</a:t>
            </a:r>
          </a:p>
          <a:p>
            <a:pPr>
              <a:spcAft>
                <a:spcPts val="500"/>
              </a:spcAft>
              <a:defRPr sz="1000">
                <a:solidFill>
                  <a:srgbClr val="F8FAFC"/>
                </a:solidFill>
              </a:defRPr>
            </a:pPr>
            <a:r>
              <a:t>•   - Tab Git Analytics (Nhóm 5) - Biểu đồ ICS &amp; Nhận xét AI</a:t>
            </a:r>
          </a:p>
          <a:p>
            <a:pPr>
              <a:spcAft>
                <a:spcPts val="500"/>
              </a:spcAft>
              <a:defRPr sz="1000">
                <a:solidFill>
                  <a:srgbClr val="F8FAFC"/>
                </a:solidFill>
              </a:defRPr>
            </a:pPr>
            <a:r>
              <a:t>•   - Tab Peer-Review École 42 - Rubric &amp; Ví điểm sửa lỗi</a:t>
            </a:r>
          </a:p>
          <a:p>
            <a:pPr>
              <a:spcAft>
                <a:spcPts val="500"/>
              </a:spcAft>
              <a:defRPr sz="1000">
                <a:solidFill>
                  <a:srgbClr val="F8FAFC"/>
                </a:solidFill>
              </a:defRPr>
            </a:pPr>
            <a:r>
              <a:t>•   - Tab Moulinette Tests - Console chạy test case thời gian thực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926080" cy="320040"/>
          </a:xfrm>
          <a:prstGeom prst="roundRect">
            <a:avLst/>
          </a:prstGeom>
          <a:solidFill>
            <a:srgbClr val="1E3A8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6B6D4"/>
                </a:solidFill>
              </a:defRPr>
            </a:pPr>
            <a:r>
              <a:t>TỔNG KẾT</a:t>
            </a:r>
          </a:p>
        </p:txBody>
      </p:sp>
      <p:sp>
        <p:nvSpPr>
          <p:cNvPr id="4" name="TextBox 3"/>
          <p:cNvSpPr txBox="1"/>
          <p:nvPr/>
        </p:nvSpPr>
        <p:spPr>
          <a:xfrm>
            <a:off x="731520" y="731520"/>
            <a:ext cx="10698480" cy="731520"/>
          </a:xfrm>
          <a:prstGeom prst="rect">
            <a:avLst/>
          </a:prstGeom>
          <a:noFill/>
        </p:spPr>
        <p:txBody>
          <a:bodyPr wrap="square">
            <a:spAutoFit/>
          </a:bodyPr>
          <a:lstStyle/>
          <a:p>
            <a:pPr>
              <a:defRPr sz="2200" b="1">
                <a:solidFill>
                  <a:srgbClr val="F8FAFC"/>
                </a:solidFill>
              </a:defRPr>
            </a:pPr>
            <a:r>
              <a:t>11. Tổng Kết Peer-Review 1 &amp; Lộ Trình Sprint Tiếp Theo</a:t>
            </a:r>
          </a:p>
          <a:p>
            <a:pPr>
              <a:defRPr sz="1200">
                <a:solidFill>
                  <a:srgbClr val="94A3B8"/>
                </a:solidFill>
              </a:defRPr>
            </a:pPr>
            <a:r>
              <a:t>Khẳng định mức độ hoàn thiện kiến trúc nền tảng và lộ trình bứt phá cho các tuần tiếp theo</a:t>
            </a:r>
          </a:p>
        </p:txBody>
      </p:sp>
      <p:sp>
        <p:nvSpPr>
          <p:cNvPr id="5" name="Rounded Rectangle 4"/>
          <p:cNvSpPr/>
          <p:nvPr/>
        </p:nvSpPr>
        <p:spPr>
          <a:xfrm>
            <a:off x="731520" y="1737360"/>
            <a:ext cx="33832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20"/>
            <a:ext cx="3108960" cy="4206240"/>
          </a:xfrm>
          <a:prstGeom prst="rect">
            <a:avLst/>
          </a:prstGeom>
          <a:noFill/>
        </p:spPr>
        <p:txBody>
          <a:bodyPr wrap="square">
            <a:spAutoFit/>
          </a:bodyPr>
          <a:lstStyle/>
          <a:p>
            <a:pPr>
              <a:spcAft>
                <a:spcPts val="1000"/>
              </a:spcAft>
              <a:defRPr sz="1250" b="1">
                <a:solidFill>
                  <a:srgbClr val="10B981"/>
                </a:solidFill>
              </a:defRPr>
            </a:pPr>
            <a:r>
              <a:t>KẾT QUẢ ĐẠT ĐƯỢC (TUẦN 3)</a:t>
            </a:r>
          </a:p>
          <a:p>
            <a:pPr>
              <a:spcAft>
                <a:spcPts val="800"/>
              </a:spcAft>
              <a:defRPr sz="1050">
                <a:solidFill>
                  <a:srgbClr val="F8FAFC"/>
                </a:solidFill>
              </a:defRPr>
            </a:pPr>
            <a:r>
              <a:t>• Hoàn thành 100% Database Design chuẩn 3NF (19 bảng).</a:t>
            </a:r>
          </a:p>
          <a:p>
            <a:pPr>
              <a:spcAft>
                <a:spcPts val="800"/>
              </a:spcAft>
              <a:defRPr sz="1050">
                <a:solidFill>
                  <a:srgbClr val="F8FAFC"/>
                </a:solidFill>
              </a:defRPr>
            </a:pPr>
            <a:r>
              <a:t>• Cơ chế JWT Authentication (4.1.3) bảo mật, hỗ trợ RBAC.</a:t>
            </a:r>
          </a:p>
          <a:p>
            <a:pPr>
              <a:spcAft>
                <a:spcPts val="800"/>
              </a:spcAft>
              <a:defRPr sz="1050">
                <a:solidFill>
                  <a:srgbClr val="F8FAFC"/>
                </a:solidFill>
              </a:defRPr>
            </a:pPr>
            <a:r>
              <a:t>• Tầng Gateway Filter bảo vệ SHA-256 và chống Zip Slip.</a:t>
            </a:r>
          </a:p>
          <a:p>
            <a:pPr>
              <a:spcAft>
                <a:spcPts val="800"/>
              </a:spcAft>
              <a:defRPr sz="1050">
                <a:solidFill>
                  <a:srgbClr val="F8FAFC"/>
                </a:solidFill>
              </a:defRPr>
            </a:pPr>
            <a:r>
              <a:t>• Động cơ Git Analytics Nhóm 5 tính điểm công bằng ICS %.</a:t>
            </a:r>
          </a:p>
          <a:p>
            <a:pPr>
              <a:spcAft>
                <a:spcPts val="800"/>
              </a:spcAft>
              <a:defRPr sz="1050">
                <a:solidFill>
                  <a:srgbClr val="F8FAFC"/>
                </a:solidFill>
              </a:defRPr>
            </a:pPr>
            <a:r>
              <a:t>• Cơ chế chấm chéo École 42 và Moulinette sẵn sàng vận hành.</a:t>
            </a:r>
          </a:p>
        </p:txBody>
      </p:sp>
      <p:sp>
        <p:nvSpPr>
          <p:cNvPr id="7" name="Rounded Rectangle 6"/>
          <p:cNvSpPr/>
          <p:nvPr/>
        </p:nvSpPr>
        <p:spPr>
          <a:xfrm>
            <a:off x="4389120" y="1737360"/>
            <a:ext cx="3383280" cy="448056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74520"/>
            <a:ext cx="3108960" cy="4206240"/>
          </a:xfrm>
          <a:prstGeom prst="rect">
            <a:avLst/>
          </a:prstGeom>
          <a:noFill/>
        </p:spPr>
        <p:txBody>
          <a:bodyPr wrap="square">
            <a:spAutoFit/>
          </a:bodyPr>
          <a:lstStyle/>
          <a:p>
            <a:pPr>
              <a:spcAft>
                <a:spcPts val="1000"/>
              </a:spcAft>
              <a:defRPr sz="1250" b="1">
                <a:solidFill>
                  <a:srgbClr val="6366F1"/>
                </a:solidFill>
              </a:defRPr>
            </a:pPr>
            <a:r>
              <a:t>KẾ HOẠCH SPRINT TIẾP THEO</a:t>
            </a:r>
          </a:p>
          <a:p>
            <a:pPr>
              <a:spcAft>
                <a:spcPts val="800"/>
              </a:spcAft>
              <a:defRPr sz="1050">
                <a:solidFill>
                  <a:srgbClr val="F8FAFC"/>
                </a:solidFill>
              </a:defRPr>
            </a:pPr>
            <a:r>
              <a:t>• Tích hợp Prompting AI nâng cao với Google Gemini 1.5 Flash.</a:t>
            </a:r>
          </a:p>
          <a:p>
            <a:pPr>
              <a:spcAft>
                <a:spcPts val="800"/>
              </a:spcAft>
              <a:defRPr sz="1050">
                <a:solidFill>
                  <a:srgbClr val="F8FAFC"/>
                </a:solidFill>
              </a:defRPr>
            </a:pPr>
            <a:r>
              <a:t>• Nâng cấp tầng DAO lên JPA / Hibernate ORM.</a:t>
            </a:r>
          </a:p>
          <a:p>
            <a:pPr>
              <a:spcAft>
                <a:spcPts val="800"/>
              </a:spcAft>
              <a:defRPr sz="1050">
                <a:solidFill>
                  <a:srgbClr val="F8FAFC"/>
                </a:solidFill>
              </a:defRPr>
            </a:pPr>
            <a:r>
              <a:t>• Mở rộng bộ Hidden Test Cases Moulinette cho các ca kiểm thử tải.</a:t>
            </a:r>
          </a:p>
          <a:p>
            <a:pPr>
              <a:spcAft>
                <a:spcPts val="800"/>
              </a:spcAft>
              <a:defRPr sz="1050">
                <a:solidFill>
                  <a:srgbClr val="F8FAFC"/>
                </a:solidFill>
              </a:defRPr>
            </a:pPr>
            <a:r>
              <a:t>• Triển khai Docker Compose đồng bộ môi trường Web + Redis + SQL Server.</a:t>
            </a:r>
          </a:p>
        </p:txBody>
      </p:sp>
      <p:sp>
        <p:nvSpPr>
          <p:cNvPr id="9" name="Rounded Rectangle 8"/>
          <p:cNvSpPr/>
          <p:nvPr/>
        </p:nvSpPr>
        <p:spPr>
          <a:xfrm>
            <a:off x="8046720" y="1737360"/>
            <a:ext cx="3383280" cy="448056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874520"/>
            <a:ext cx="3108960" cy="4206240"/>
          </a:xfrm>
          <a:prstGeom prst="rect">
            <a:avLst/>
          </a:prstGeom>
          <a:noFill/>
        </p:spPr>
        <p:txBody>
          <a:bodyPr wrap="square">
            <a:spAutoFit/>
          </a:bodyPr>
          <a:lstStyle/>
          <a:p>
            <a:pPr>
              <a:spcAft>
                <a:spcPts val="1000"/>
              </a:spcAft>
              <a:defRPr sz="1250" b="1">
                <a:solidFill>
                  <a:srgbClr val="06B6D4"/>
                </a:solidFill>
              </a:defRPr>
            </a:pPr>
            <a:r>
              <a:t>CAM KẾT CHẤT LƯỢNG</a:t>
            </a:r>
          </a:p>
          <a:p>
            <a:pPr>
              <a:spcAft>
                <a:spcPts val="800"/>
              </a:spcAft>
              <a:defRPr sz="1050">
                <a:solidFill>
                  <a:srgbClr val="F8FAFC"/>
                </a:solidFill>
              </a:defRPr>
            </a:pPr>
            <a:r>
              <a:t>• Code sạch (Clean Code), không scriptlet trong JSP.</a:t>
            </a:r>
          </a:p>
          <a:p>
            <a:pPr>
              <a:spcAft>
                <a:spcPts val="800"/>
              </a:spcAft>
              <a:defRPr sz="1050">
                <a:solidFill>
                  <a:srgbClr val="F8FAFC"/>
                </a:solidFill>
              </a:defRPr>
            </a:pPr>
            <a:r>
              <a:t>• Phân tách rõ ràng giữa Controller - Service - DAO - Model.</a:t>
            </a:r>
          </a:p>
          <a:p>
            <a:pPr>
              <a:spcAft>
                <a:spcPts val="800"/>
              </a:spcAft>
              <a:defRPr sz="1050">
                <a:solidFill>
                  <a:srgbClr val="F8FAFC"/>
                </a:solidFill>
              </a:defRPr>
            </a:pPr>
            <a:r>
              <a:t>• Tài liệu hóa chi tiết kiến trúc và API trong README.md.</a:t>
            </a:r>
          </a:p>
          <a:p>
            <a:pPr>
              <a:spcAft>
                <a:spcPts val="800"/>
              </a:spcAft>
              <a:defRPr sz="1050">
                <a:solidFill>
                  <a:srgbClr val="F8FAFC"/>
                </a:solidFill>
              </a:defRPr>
            </a:pPr>
            <a:r>
              <a:t>• Tự tin bảo vệ xuất sắc trong buổi Peer Defense 15 phút!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